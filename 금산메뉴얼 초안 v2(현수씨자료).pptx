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0C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9D3631-0015-FE8D-FF8E-8AF210FFBF22}" name="HYEONSU LEE" initials="HL" userId="41b7c59b8a4cdc8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1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381C1E-0DC3-4E89-A971-18C06BCB97F5}" authorId="{E79D3631-0015-FE8D-FF8E-8AF210FFBF22}" created="2026-05-28T04:27:07.9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8"/>
      <ac:spMk id="19" creationId="{00000000-0000-0000-0000-000000000000}"/>
      <ac:txMk cp="0" len="40">
        <ac:context len="41" hash="2164415201"/>
      </ac:txMk>
    </ac:txMkLst>
    <p188:pos x="1928051" y="304610"/>
    <p188:txBody>
      <a:bodyPr/>
      <a:lstStyle/>
      <a:p>
        <a:r>
          <a:rPr lang="ko-KR" altLang="en-US"/>
          <a:t>10분 단위 절삭은 DB에서 데이터 조회할 때 현재 시각을 10분 단위로 내림(floor)한다는 뜻입니다. 예를 들어 지금 시각이 10:43이면 10:40으로 절삭해서 조회 기준점을 잡는 거예요. 10분마다 실행되는 주기와 맞추기 위한 처리입니다.
최근 3시간 데이터 활용은 AI 모델이 예측할 때 현재 시점 기준으로 과거 3시간(180분)치 데이터를 입력으로 사용한다는 뜻입니다. 10분 간격으로 잘라서 가져오면 총 18개 시점 데이터가 모델에 들어가는 거예요.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344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" cy="237744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3D9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정수장 AI 플랫폼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금산정수장 약품공정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시스템 구조 파악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D9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 DB 테이블 · 주요인자 · AI 입력인자 · 설정값 구조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금산정수장 운영팀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 DB 테이블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28600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7472" y="969264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TB_C_RT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96926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태그 데이터 수집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(원수 탁도, pH, 수온 등 계측값이 1분 단위로 적재됨)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69494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28600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47472" y="1719072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TB_AI_C_INIT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1907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약품 운전모드, 주입률 상·하한,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보정값 등 설정값 저장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1401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2414016"/>
            <a:ext cx="228600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7472" y="2468880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TB_AI_C_RT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결과 저장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(입력값 + 출력값 JSON 형태로 적재)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163824"/>
            <a:ext cx="8503920" cy="69494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0040" y="3163824"/>
            <a:ext cx="228600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7472" y="3218688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TB_AI_C_CTR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21868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설비 제어 명령 저장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 예측 후 주입기에 신호 전달 시 기록)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20040" y="3913632"/>
            <a:ext cx="2286000" cy="6949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47472" y="3968496"/>
            <a:ext cx="2231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TB_AI_C_ALM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96849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이력 저장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(임계치 초과, 주입률 변경 알람 등)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주요인자 표시 vs 실제 AI 입력인자 비교</a:t>
            </a:r>
            <a:endParaRPr lang="en-US" sz="2000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F6AB0179-3041-2AE5-317B-AF07EB944585}"/>
              </a:ext>
            </a:extLst>
          </p:cNvPr>
          <p:cNvGrpSpPr/>
          <p:nvPr/>
        </p:nvGrpSpPr>
        <p:grpSpPr>
          <a:xfrm>
            <a:off x="320040" y="868680"/>
            <a:ext cx="8150670" cy="3930783"/>
            <a:chOff x="320040" y="868680"/>
            <a:chExt cx="8595360" cy="4261104"/>
          </a:xfrm>
        </p:grpSpPr>
        <p:sp>
          <p:nvSpPr>
            <p:cNvPr id="4" name="Shape 2"/>
            <p:cNvSpPr/>
            <p:nvPr/>
          </p:nvSpPr>
          <p:spPr>
            <a:xfrm>
              <a:off x="320040" y="868680"/>
              <a:ext cx="8503920" cy="475488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5" name="Text 3"/>
            <p:cNvSpPr/>
            <p:nvPr/>
          </p:nvSpPr>
          <p:spPr>
            <a:xfrm>
              <a:off x="320040" y="868680"/>
              <a:ext cx="22860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태그번호</a:t>
              </a:r>
              <a:endParaRPr lang="en-US" sz="9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606040" y="868680"/>
              <a:ext cx="2560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DP (공식 명칭)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166360" y="868680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웹 주요인자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표시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446520" y="868680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모델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726680" y="868680"/>
              <a:ext cx="11887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비고</a:t>
              </a:r>
              <a:endParaRPr lang="en-US" sz="9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20040" y="1344168"/>
              <a:ext cx="8503920" cy="4206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1344168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771-358-TBI-6001</a:t>
              </a:r>
              <a:endParaRPr lang="en-US" sz="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606040" y="1344168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탁도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166360" y="134416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446520" y="134416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726680" y="1344168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20040" y="1764792"/>
              <a:ext cx="8503920" cy="42062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7" name="Text 15"/>
            <p:cNvSpPr/>
            <p:nvPr/>
          </p:nvSpPr>
          <p:spPr>
            <a:xfrm>
              <a:off x="320040" y="1764792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771-358-PHI-6003</a:t>
              </a:r>
              <a:endParaRPr lang="en-US" sz="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606040" y="1764792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pH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166360" y="1764792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446520" y="1764792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726680" y="1764792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0040" y="2185416"/>
              <a:ext cx="8503920" cy="4206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3" name="Text 21"/>
            <p:cNvSpPr/>
            <p:nvPr/>
          </p:nvSpPr>
          <p:spPr>
            <a:xfrm>
              <a:off x="320040" y="2185416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771-358-TEI-6028</a:t>
              </a:r>
              <a:endParaRPr lang="en-US" sz="8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606040" y="2185416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원수 온도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166360" y="2185416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446520" y="2185416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726680" y="2185416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320040" y="2606040"/>
              <a:ext cx="8503920" cy="42062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9" name="Text 27"/>
            <p:cNvSpPr/>
            <p:nvPr/>
          </p:nvSpPr>
          <p:spPr>
            <a:xfrm>
              <a:off x="320040" y="2606040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771-358-CUI-6004</a:t>
              </a:r>
              <a:endParaRPr lang="en-US" sz="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606040" y="2606040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전기전도도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166360" y="2606040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6446520" y="2606040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726680" y="2606040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320040" y="3026664"/>
              <a:ext cx="8503920" cy="4206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5" name="Text 33"/>
            <p:cNvSpPr/>
            <p:nvPr/>
          </p:nvSpPr>
          <p:spPr>
            <a:xfrm>
              <a:off x="320040" y="3026664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771-358-ALI-6001</a:t>
              </a:r>
              <a:endParaRPr lang="en-US" sz="8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606040" y="3026664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알카리도</a:t>
              </a:r>
              <a:endParaRPr lang="en-US" sz="9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5166360" y="3026664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446520" y="3026664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7726680" y="3026664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웹 미표시</a:t>
              </a:r>
              <a:endParaRPr lang="en-US" sz="8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20040" y="3447288"/>
              <a:ext cx="8503920" cy="42062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1" name="Text 39"/>
            <p:cNvSpPr/>
            <p:nvPr/>
          </p:nvSpPr>
          <p:spPr>
            <a:xfrm>
              <a:off x="320040" y="3447288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771-358-TBI-6002</a:t>
              </a:r>
              <a:endParaRPr lang="en-US" sz="8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606040" y="3447288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막여과 유입수 탁도</a:t>
              </a:r>
              <a:endParaRPr lang="en-US" sz="9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5166360" y="344728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2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446520" y="3447288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726680" y="3447288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그래프만 표시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20040" y="3867912"/>
              <a:ext cx="8503920" cy="4206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7" name="Text 45"/>
            <p:cNvSpPr/>
            <p:nvPr/>
          </p:nvSpPr>
          <p:spPr>
            <a:xfrm>
              <a:off x="320040" y="3867912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771-358-CFC-2464</a:t>
              </a:r>
              <a:endParaRPr lang="en-US" sz="8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606040" y="3867912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PAC주입기#1 현재주입률설정</a:t>
              </a:r>
              <a:endParaRPr lang="en-US" sz="9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5166360" y="3867912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2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6446520" y="3867912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726680" y="3867912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이전값 사용</a:t>
              </a:r>
              <a:endParaRPr lang="en-US" sz="8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320040" y="4288536"/>
              <a:ext cx="8503920" cy="42062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53" name="Text 51"/>
            <p:cNvSpPr/>
            <p:nvPr/>
          </p:nvSpPr>
          <p:spPr>
            <a:xfrm>
              <a:off x="320040" y="4288536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771-358-CFC-2474</a:t>
              </a:r>
              <a:endParaRPr lang="en-US" sz="8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2606040" y="4288536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PAC주입기#2 현재주입률설정</a:t>
              </a:r>
              <a:endParaRPr lang="en-US" sz="9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5166360" y="4288536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2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6446520" y="4288536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7726680" y="4288536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이전값 사용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320040" y="4709160"/>
              <a:ext cx="8503920" cy="4206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59" name="Text 57"/>
            <p:cNvSpPr/>
            <p:nvPr/>
          </p:nvSpPr>
          <p:spPr>
            <a:xfrm>
              <a:off x="320040" y="4709160"/>
              <a:ext cx="2286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771-358-SWI-2003</a:t>
              </a:r>
              <a:endParaRPr lang="en-US" sz="8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2606040" y="4709160"/>
              <a:ext cx="2560320" cy="420624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응집제 종류 (apac)</a:t>
              </a:r>
              <a:endParaRPr lang="en-US" sz="9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5166360" y="4709160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X</a:t>
              </a:r>
              <a:endParaRPr lang="en-US" sz="12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6446520" y="4709160"/>
              <a:ext cx="128016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2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7726680" y="4709160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임시 0 고정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우측 상단 설정값 구조 (TB_AI_C_INIT)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4가지 설정값은 TB_AI_C_INIT 테이블에서 읽어오며, AI 예측 결과에 직접 반영되는 핵심 인자입니다.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103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21031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7472" y="1399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약품 운전모드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ITM: c_operation_mode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2311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560320"/>
            <a:ext cx="1883664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47472" y="265176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수동 모드 (AI 예측만, 제어 없음)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= 반자동 모드 (운영자 확인 후 제어)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= 자동 모드 (AI 예측값 자동 제어)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87168" y="1353312"/>
            <a:ext cx="2103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487168" y="1353312"/>
            <a:ext cx="21031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560320" y="1399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주입률 상한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192024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ITM: c_cf_max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311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96896" y="2560320"/>
            <a:ext cx="1883664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60320" y="265176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예측값이 이 값을 초과하면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상한값으로 강제 고정됩니다.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1353312"/>
            <a:ext cx="2103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00016" y="1353312"/>
            <a:ext cx="210312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73168" y="1399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주입률 하한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192024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ITM: c_cf_min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73168" y="22311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2560320"/>
            <a:ext cx="1883664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73168" y="265176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예측값이 이 값 미만이면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하한값으로 강제 고정됩니다.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1353312"/>
            <a:ext cx="2103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912864" y="1353312"/>
            <a:ext cx="210312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986016" y="1399032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보정값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86016" y="1920240"/>
            <a:ext cx="1956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ITM: c_user_correct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86016" y="22311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22592" y="2560320"/>
            <a:ext cx="1883664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986016" y="2651760"/>
            <a:ext cx="19568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예측값에 이 값을 가산하여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주입률을 산출합니다.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(양수=증가, 음수=감소)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응집제 종류 설정 (TB_USR_MNG)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TB_USR_MNG 테이블 현황 (금산정수장)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298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TAG_SN (태그번호)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2984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 (공식 명칭)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298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INIT_VAL (현재값)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822960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2057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ai_c1_cf_coagulant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609344"/>
            <a:ext cx="1828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771-358-SWI-2003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1609344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응집제 종류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0" y="1609344"/>
            <a:ext cx="1645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54203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및 유의사항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상단 드롭다운 "응집제 종류"에 APAC이 표시되는 출처가 이 테이블입니다.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현재 AI 연산 시 이 테이블 값을 실제로 읽어오지 않고 임시코드로 apac = 0 으로 하드코딩 처리되어 있습니다.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RT 테이블 수집 구조 확인 후 실제 TB_USR_MNG 값을 연동할 예정입니다.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좌측 설비 현황 영역 — 응집제 주입기 · 주입률 · 주입량</a:t>
            </a:r>
            <a:endParaRPr lang="en-US" sz="2000" dirty="0"/>
          </a:p>
        </p:txBody>
      </p:sp>
      <p:pic>
        <p:nvPicPr>
          <p:cNvPr id="4" name="Image 0" descr="/home/claude/equip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56032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560320" cy="3931920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063240" y="868680"/>
            <a:ext cx="58521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154680" y="8686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응집제 종류 (상단 드롭다운)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1179576"/>
            <a:ext cx="58521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172968" y="1197864"/>
            <a:ext cx="56327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출처 테이블 : TB_USR_MNG (ITM: ai_c1_cf_coagulant / 태그: 771-358-SWI-2003)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설정값 : APAC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저장 버튼 클릭 시 선택한 응집제 종류를 서버에 업데이트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1755648"/>
            <a:ext cx="58521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154680" y="17556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1호기 / 2호기 주입기 그래픽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63240" y="2066544"/>
            <a:ext cx="5852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172968" y="2084832"/>
            <a:ext cx="5632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주입기 가동 여부(c_injector1 / c_injector2)에 따라 물 흐름 애니메이션이 다르게 표시됨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: 1호기 가동 중 / 2호기 정지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63240" y="2594103"/>
            <a:ext cx="59537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154680" y="2594103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하단 수치 4개 — 출처 및 산출 방식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63240" y="2904999"/>
            <a:ext cx="5953760" cy="274320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108960" y="29049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17720" y="2904999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40880" y="2904999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06640" y="2904999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방식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063240" y="3179319"/>
            <a:ext cx="5953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108960" y="3179319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1호기 응집제 주입률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617720" y="3179319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771-358-CFI-2461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771-358-FRI-2011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040880" y="3179319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06640" y="3179319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주입량 ÷ 원수유입유량 × 1000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(서버 계산값)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063240" y="3563367"/>
            <a:ext cx="595376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108960" y="3563367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1호기 응집제 주입량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617720" y="3563367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771-358-CFI-2461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040880" y="3563367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ℓ/h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406640" y="3563367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계측값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063240" y="3947415"/>
            <a:ext cx="59537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108960" y="3947415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2호기 응집제 주입률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617720" y="3947415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771-358-CFI-2471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771-358-FRI-2011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040880" y="3947415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406640" y="3947415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주입량 ÷ 원수유입유량 × 1000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(서버 계산값)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063240" y="4331463"/>
            <a:ext cx="595376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3108960" y="4331463"/>
            <a:ext cx="1463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2호기 응집제 주입량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617720" y="4331463"/>
            <a:ext cx="23774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771-358-CFI-2471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040880" y="4331463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ℓ/h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406640" y="4331463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계측값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063240" y="4733799"/>
            <a:ext cx="595376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3154680" y="4733799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주입률(ppm)은 직접 계측값이 아닌 서버에서 계산하여 내려주는 값입니다.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주요인자 영역 — 화면 표시값 출처 및 AI 활용 여부</a:t>
            </a:r>
            <a:endParaRPr lang="en-US" sz="2000" dirty="0"/>
          </a:p>
        </p:txBody>
      </p:sp>
      <p:pic>
        <p:nvPicPr>
          <p:cNvPr id="4" name="Image 0" descr="/home/claude/main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560320" cy="2807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560320" cy="280720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063240" y="868680"/>
            <a:ext cx="58521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154680" y="8686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1179576"/>
            <a:ext cx="5852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172968" y="1197864"/>
            <a:ext cx="5632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TB_C_RT 테이블에서 1분 단위로 수집된 실시간 계측값이며, AI 모델 입력인자로 그대로 사용됩니다.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1682496"/>
            <a:ext cx="58521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154680" y="168249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 항목 (4가지) — 출처 및 현재값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63240" y="1993392"/>
            <a:ext cx="5852160" cy="274320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108960" y="19933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480560" y="19933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571232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119872" y="19842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현재값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063240" y="2267712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108960" y="2267712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탁도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80560" y="2267712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771-358-TBI-6001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571232" y="2258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NTU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119872" y="22585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LAB디지털" pitchFamily="34" charset="0"/>
                <a:ea typeface="LAB디지털" pitchFamily="34" charset="-122"/>
                <a:cs typeface="LAB디지털" pitchFamily="34" charset="-120"/>
              </a:rPr>
              <a:t>1.48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063240" y="2615184"/>
            <a:ext cx="585216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3108960" y="2615184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pH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80560" y="2615184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771-358-PHI-6003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71232" y="2606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119872" y="26060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LAB디지털" pitchFamily="34" charset="0"/>
                <a:ea typeface="LAB디지털" pitchFamily="34" charset="-122"/>
                <a:cs typeface="LAB디지털" pitchFamily="34" charset="-120"/>
              </a:rPr>
              <a:t>7.07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063240" y="2962656"/>
            <a:ext cx="5852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3108960" y="296265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수온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480560" y="2962656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771-358-TEI-6028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571232" y="29535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℃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119872" y="29535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LAB디지털" pitchFamily="34" charset="0"/>
                <a:ea typeface="LAB디지털" pitchFamily="34" charset="-122"/>
                <a:cs typeface="LAB디지털" pitchFamily="34" charset="-120"/>
              </a:rPr>
              <a:t>11.82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063240" y="3310128"/>
            <a:ext cx="585216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3108960" y="3310128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전기전도도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480560" y="331012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771-358-CUI-6004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571232" y="33009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μS/cm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119872" y="33009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LAB디지털" pitchFamily="34" charset="0"/>
                <a:ea typeface="LAB디지털" pitchFamily="34" charset="-122"/>
                <a:cs typeface="LAB디지털" pitchFamily="34" charset="-120"/>
              </a:rPr>
              <a:t>118.13</a:t>
            </a:r>
            <a:endParaRPr lang="en-US" sz="105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6F54F5F-86AF-2D4B-A3FA-A21F5BF5FB55}"/>
              </a:ext>
            </a:extLst>
          </p:cNvPr>
          <p:cNvGrpSpPr/>
          <p:nvPr/>
        </p:nvGrpSpPr>
        <p:grpSpPr>
          <a:xfrm>
            <a:off x="3063240" y="3767328"/>
            <a:ext cx="6728157" cy="1284732"/>
            <a:chOff x="3063240" y="3767328"/>
            <a:chExt cx="6677439" cy="1719072"/>
          </a:xfrm>
        </p:grpSpPr>
        <p:sp>
          <p:nvSpPr>
            <p:cNvPr id="42" name="Shape 39"/>
            <p:cNvSpPr/>
            <p:nvPr/>
          </p:nvSpPr>
          <p:spPr>
            <a:xfrm>
              <a:off x="3063240" y="3767328"/>
              <a:ext cx="5852160" cy="310896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40"/>
            <p:cNvSpPr/>
            <p:nvPr/>
          </p:nvSpPr>
          <p:spPr>
            <a:xfrm>
              <a:off x="3154680" y="3767328"/>
              <a:ext cx="56692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웹 주요인자 미표시 — AI 연산에만 사용되는 추가 입력인자</a:t>
              </a:r>
              <a:endParaRPr lang="en-US" sz="11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3063240" y="4078224"/>
              <a:ext cx="5852160" cy="2834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2"/>
            <p:cNvSpPr/>
            <p:nvPr/>
          </p:nvSpPr>
          <p:spPr>
            <a:xfrm>
              <a:off x="3108960" y="4078224"/>
              <a:ext cx="356616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알카리도</a:t>
              </a:r>
              <a:endParaRPr lang="en-US" sz="9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637559" y="4059935"/>
              <a:ext cx="210312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771-358-ALI-6001</a:t>
              </a:r>
              <a:endParaRPr lang="en-US" sz="85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3063240" y="4361688"/>
              <a:ext cx="5852160" cy="28346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6"/>
            <p:cNvSpPr/>
            <p:nvPr/>
          </p:nvSpPr>
          <p:spPr>
            <a:xfrm>
              <a:off x="3108960" y="4361688"/>
              <a:ext cx="356616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막여과 유입수 탁도</a:t>
              </a:r>
              <a:endParaRPr lang="en-US" sz="95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7637559" y="4343399"/>
              <a:ext cx="210312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771-358-TBI-6002</a:t>
              </a:r>
              <a:endParaRPr lang="en-US" sz="850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3063240" y="4645152"/>
              <a:ext cx="5852160" cy="2834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50"/>
            <p:cNvSpPr/>
            <p:nvPr/>
          </p:nvSpPr>
          <p:spPr>
            <a:xfrm>
              <a:off x="3108960" y="4645152"/>
              <a:ext cx="356616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PAC주입기#1 현재주입률설정 (이전값)</a:t>
              </a:r>
              <a:endParaRPr lang="en-US" sz="95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7637559" y="4626863"/>
              <a:ext cx="210312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771-358-CFC-2464</a:t>
              </a:r>
              <a:endParaRPr lang="en-US" sz="850" dirty="0"/>
            </a:p>
          </p:txBody>
        </p:sp>
        <p:sp>
          <p:nvSpPr>
            <p:cNvPr id="56" name="Shape 53"/>
            <p:cNvSpPr/>
            <p:nvPr/>
          </p:nvSpPr>
          <p:spPr>
            <a:xfrm>
              <a:off x="3063240" y="4928616"/>
              <a:ext cx="5852160" cy="28346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4"/>
            <p:cNvSpPr/>
            <p:nvPr/>
          </p:nvSpPr>
          <p:spPr>
            <a:xfrm>
              <a:off x="3108960" y="4928616"/>
              <a:ext cx="356616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PAC주입기#2 현재주입률설정 (이전값)</a:t>
              </a:r>
              <a:endParaRPr lang="en-US" sz="950" dirty="0"/>
            </a:p>
          </p:txBody>
        </p:sp>
        <p:sp>
          <p:nvSpPr>
            <p:cNvPr id="58" name="Text 55"/>
            <p:cNvSpPr/>
            <p:nvPr/>
          </p:nvSpPr>
          <p:spPr>
            <a:xfrm>
              <a:off x="7637559" y="4910327"/>
              <a:ext cx="2103120" cy="28346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771-358-CFC-2474</a:t>
              </a:r>
              <a:endParaRPr lang="en-US" sz="850" dirty="0"/>
            </a:p>
          </p:txBody>
        </p:sp>
        <p:sp>
          <p:nvSpPr>
            <p:cNvPr id="60" name="Shape 57"/>
            <p:cNvSpPr/>
            <p:nvPr/>
          </p:nvSpPr>
          <p:spPr>
            <a:xfrm>
              <a:off x="3063240" y="5230368"/>
              <a:ext cx="58521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8"/>
            <p:cNvSpPr/>
            <p:nvPr/>
          </p:nvSpPr>
          <p:spPr>
            <a:xfrm>
              <a:off x="3154680" y="5230368"/>
              <a:ext cx="56692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위 항목들은 AI가 내부적으로 사용하지만 주요인자 칸에는 표시되지 않습니다.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결과 영역 — 데이터 출처 및 항목 설명</a:t>
            </a:r>
            <a:endParaRPr lang="en-US" sz="2200" dirty="0"/>
          </a:p>
        </p:txBody>
      </p:sp>
      <p:pic>
        <p:nvPicPr>
          <p:cNvPr id="4" name="Image 0" descr="/home/claude/pred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92608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926080" cy="308152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429000" y="868680"/>
            <a:ext cx="5440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520440" y="8686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현재주입률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143000"/>
            <a:ext cx="5440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520440" y="1161288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가동 중인 주입기(1호기)의 실제 주입률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변수명: c1_cf (또는 c2_cf)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874520"/>
            <a:ext cx="5440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5204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예측 결과 주입률 (1호기 APAC / 6.00 ppm)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2148840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520440" y="2167128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 보정값 적용 이전의 AI 순수 예측값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변수명: ai_c_cf_norm_co / 출처: TB_AI_C_RT (OUT_VAL 컬럼 JSON에서 추출)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가동 중인 주입기를 기준으로 표시 (c_injector1 = 1 → 1호기)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29000" y="3044952"/>
            <a:ext cx="54406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520440" y="304495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사용자 보정 값 (0.00)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429000" y="3319272"/>
            <a:ext cx="5440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520440" y="3337560"/>
            <a:ext cx="5257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운영자가 직접 입력하는 보정값. 연필 아이콘 클릭 시 수정 가능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변수명: c_user_correct / 출처: TB_AI_C_INIT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 값을 AI 예측값에 더한 결과가 최종 결과(ai_c_cf)로 표시됨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29000" y="4215384"/>
            <a:ext cx="544068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520440" y="421538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"침전지 탁도 1NTU 이하로 운영" 문구는 AI 운영 목표 기준으로 고정 표시되는 안내 텍스트입니다.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 영역 — 데이터 출처 및 실제 제어값 산출 흐름</a:t>
            </a:r>
            <a:endParaRPr lang="en-US" sz="2100" dirty="0"/>
          </a:p>
        </p:txBody>
      </p:sp>
      <p:pic>
        <p:nvPicPr>
          <p:cNvPr id="4" name="Image 0" descr="/home/claude/final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560320" cy="31272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560320" cy="312724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063240" y="868680"/>
            <a:ext cx="58064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154680" y="86868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 결과 시각 (2026-05-26 11:03:35)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240" y="1143000"/>
            <a:ext cx="5806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154680" y="1161288"/>
            <a:ext cx="56235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예측이 마지막으로 수행된 시각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변수명: </a:t>
            </a:r>
            <a:r>
              <a:rPr lang="en-US" sz="1050" dirty="0" err="1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upd_ti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1737360"/>
            <a:ext cx="58064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154680" y="17373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최종 결과 주입률 (1호기 APAC / 6.00 ppm)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63240" y="2011680"/>
            <a:ext cx="5806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154680" y="2029968"/>
            <a:ext cx="5623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 보정값 적용 이후의 최종 AI 예측값 (ai_c_cf_norm_co + c_user_correct)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변수명: </a:t>
            </a:r>
            <a:r>
              <a:rPr lang="en-US" sz="1050" dirty="0" err="1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ai_c_cf</a:t>
            </a: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이 값이 화면 최종 결과로 표시되며, 상하한 클리핑 후 설비로 전달됨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63240" y="2743200"/>
            <a:ext cx="580644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154680" y="27432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실제 제어값 산출 흐름 (최종 결과 → 설비 전달까지)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63240" y="3090672"/>
            <a:ext cx="32004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3063240" y="30906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83280" y="3090672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474720" y="30906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순수 예측값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88152" y="3090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ai_c_cf_norm_co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63240" y="3474720"/>
            <a:ext cx="320040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063240" y="34747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83280" y="3474720"/>
            <a:ext cx="5486400" cy="32918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474720" y="3474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사용자 보정값 적용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88152" y="3474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c_user_correct  →  ai_c_cf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063240" y="3858768"/>
            <a:ext cx="32004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063240" y="38587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383280" y="3858768"/>
            <a:ext cx="5486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3474720" y="38587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상한/하한 클리핑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788152" y="3858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c_cf_min ~ c_cf_max  →  TB_AI_C_CTR 저장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063240" y="4242816"/>
            <a:ext cx="32004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3063240" y="424281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383280" y="4242816"/>
            <a:ext cx="5486400" cy="32918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474720" y="4242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→ 실제 설비 전달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788152" y="42428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주입기에 제어 신호 출력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063240" y="4672584"/>
            <a:ext cx="580644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3154680" y="467258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시나리오: 보정값 +1.00, 상한 6.00 → 7.00이 화면에 표시되나 설비엔 6.00 전달.  상한을 8.00으로 올리면 7.00이 그대로 전달됨.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막여과 유입수 탁도 정규 분포 — 차트 설명 및 데이터 출처</a:t>
            </a:r>
            <a:endParaRPr lang="en-US" sz="2000" dirty="0"/>
          </a:p>
        </p:txBody>
      </p:sp>
      <p:pic>
        <p:nvPicPr>
          <p:cNvPr id="4" name="Image 0" descr="/home/claude/scatte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572000" cy="2852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572000" cy="285292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74920" y="868680"/>
            <a:ext cx="37947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166360" y="868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74920" y="1143000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2064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0" y="1143000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Scatter Plot (산점도) — Highcharts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1490472"/>
            <a:ext cx="379476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120640" y="1490472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490472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771-358-TBI-6002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74920" y="1837944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120640" y="1837944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DP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1837944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금산(정) 막여과 유입수 탁도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74920" y="2141072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120640" y="2141072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2141072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7일치 데이터 빈도 집계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74920" y="2488544"/>
            <a:ext cx="379476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20640" y="2488544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2488544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탁도 값 (NTU), 0.5 간격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74920" y="2836016"/>
            <a:ext cx="3794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120640" y="2836016"/>
            <a:ext cx="1097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17920" y="2836016"/>
            <a:ext cx="2606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탁도 값의 발생 횟수 (빈도)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813048"/>
            <a:ext cx="85953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365760" y="3813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의미 및 현재 상태 해석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40873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411480" y="4105656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7일간 막여과 유입수 탁도가 어떤 값에 얼마나 자주 머물렀는지를 보여주는 빈도 분포 차트입니다.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화면 기준: 1.3~1.5 NTU 구간에 데이터가 집중 (Y축 최대 약 2,000회) → 탁도가 안정적으로 낮은 값 유지 중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 NTU 이상 구간은 발생 빈도가 매우 낮아 정상 운영 상태임을 확인할 수 있습니다.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11480" y="48737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2계열(series2) 데이터는 현재 주석 처리되어 미표시 상태이며, 1계열 데이터만 표시됩니다. 우측 상단 ≡ 메뉴로 전체화면·JPEG·CSV 저장 가능합니다.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막여과 유입수 탁도 트렌드 — 차트 설명 및 데이터 출처</a:t>
            </a:r>
            <a:endParaRPr lang="en-US" sz="2000" dirty="0"/>
          </a:p>
        </p:txBody>
      </p:sp>
      <p:pic>
        <p:nvPicPr>
          <p:cNvPr id="4" name="Image 0" descr="/home/claude/tren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572000" cy="2807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572000" cy="280720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74920" y="868680"/>
            <a:ext cx="37947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166360" y="868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74920" y="1143000"/>
            <a:ext cx="3794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120640" y="1143000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0" y="1143000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1472184"/>
            <a:ext cx="3794760" cy="32918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120640" y="1472184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1472184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771-358-TBI-6002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74920" y="1801368"/>
            <a:ext cx="3794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120640" y="1801368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DP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17920" y="1801368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금산(정) 막여과 유입수 탁도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74920" y="2144268"/>
            <a:ext cx="3794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120640" y="2144268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17920" y="2144268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74920" y="2473452"/>
            <a:ext cx="3794760" cy="32918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120640" y="2473452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0" y="2473452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(3시간 간격 tick)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74920" y="2802636"/>
            <a:ext cx="3794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120640" y="2802636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17920" y="2802636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NTU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074920" y="3131820"/>
            <a:ext cx="3794760" cy="329184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120640" y="3131820"/>
            <a:ext cx="1097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현재값 표시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7920" y="3131820"/>
            <a:ext cx="2606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e1_tb_b — 화면 우측 상단 "현재 막여과 유입수 탁도" 수치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3767328"/>
            <a:ext cx="85953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65760" y="37673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의미 및 현재 상태 해석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11480" y="4059936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24시간 동안 막여과 유입수 탁도가 어떻게 변화했는지를 시계열로 보여주는 트렌드 차트입니다.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화면 기준: 탁도가 1.2~1.8 NTU 범위에서 안정적으로 유지되고 있으며, 현재값은 1.34 NTU입니다.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이 값은 AI 모델의 입력인자로 사용되며, 약품 주입률 예측에 직접 반영됩니다.</a:t>
            </a:r>
            <a:endParaRPr lang="en-US" sz="10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CA9CDDCC-C6E4-130E-78EF-55797CF20E9F}"/>
              </a:ext>
            </a:extLst>
          </p:cNvPr>
          <p:cNvGrpSpPr/>
          <p:nvPr/>
        </p:nvGrpSpPr>
        <p:grpSpPr>
          <a:xfrm>
            <a:off x="274320" y="4828032"/>
            <a:ext cx="8595360" cy="310896"/>
            <a:chOff x="274320" y="4828032"/>
            <a:chExt cx="8595360" cy="310896"/>
          </a:xfrm>
        </p:grpSpPr>
        <p:sp>
          <p:nvSpPr>
            <p:cNvPr id="36" name="Shape 33"/>
            <p:cNvSpPr/>
            <p:nvPr/>
          </p:nvSpPr>
          <p:spPr>
            <a:xfrm>
              <a:off x="274320" y="4828032"/>
              <a:ext cx="8595360" cy="310896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828032"/>
              <a:ext cx="8321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좌측 정규 분포 차트(7일 빈도)와 이 트렌드 차트(24시간 시계열)는 같은 태그(771-358-TBI-6002)를 다른 방식으로 표현합니다. 우측 상단 ≡ 메뉴로 전체화면·JPEG·CSV 저장 가능합니다.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운전 모드 및 응집제 주입기 상·하한 설정</a:t>
            </a:r>
            <a:endParaRPr lang="en-US" sz="2200" dirty="0"/>
          </a:p>
        </p:txBody>
      </p:sp>
      <p:pic>
        <p:nvPicPr>
          <p:cNvPr id="4" name="Image 0" descr="/home/claude/ai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200400" cy="1709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200400" cy="170992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749040" y="868680"/>
            <a:ext cx="51206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840480" y="868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49040" y="1143000"/>
            <a:ext cx="5120640" cy="237744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794760" y="11430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83480" y="11430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0" y="11430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ITM 키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83680" y="11430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55280" y="11430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49040" y="1380744"/>
            <a:ext cx="5120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794760" y="1380744"/>
            <a:ext cx="1143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운전 모드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83480" y="1380744"/>
            <a:ext cx="7315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ai_opr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60720" y="1380744"/>
            <a:ext cx="777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c_operation_mode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83680" y="1380744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955280" y="1380744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TB_AI_C_INIT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749040" y="1673352"/>
            <a:ext cx="5120640" cy="29260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794760" y="1673352"/>
            <a:ext cx="1143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응집제 주입기 상한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83480" y="1673352"/>
            <a:ext cx="7315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c_cf_max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60720" y="1673352"/>
            <a:ext cx="777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c_cf_max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83680" y="1673352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771-358-SWI-2902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955280" y="1673352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TB_AI_C_INIT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749040" y="1965960"/>
            <a:ext cx="5120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794760" y="1965960"/>
            <a:ext cx="1143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응집제 주입기 하한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83480" y="1965960"/>
            <a:ext cx="7315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c_cf_min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60720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c_cf_min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583680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771-358-SWI-2903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55280" y="1965960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TB_AI_C_INIT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2596896"/>
            <a:ext cx="85953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65760" y="25968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운전 모드 3단계 — 버튼별 동작 설명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74320" y="2944368"/>
            <a:ext cx="13716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274320" y="29443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AI분석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(ai_opr = 0)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645920" y="2944368"/>
            <a:ext cx="7223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755648" y="2980944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입력 데이터를 분석하고 예측값을 계산하지만 설비에 제어 신호를 보내지 않습니다.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예측 결과만 표시되며, 운영자가 직접 주입기를 제어합니다.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74320" y="3520440"/>
            <a:ext cx="137160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274320" y="3520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AI추천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(ai_opr = 1)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645920" y="3520440"/>
            <a:ext cx="7223760" cy="5669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1755648" y="355701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예측값을 화면에 표시하고 운영자가 확인 후 승인하면 설비로 제어 신호를 전송합니다.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반자동 모드로, 운영자의 최종 판단이 필요합니다.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74320" y="4069080"/>
            <a:ext cx="1371600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274320" y="406908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(ai_opr = 2)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645920" y="4069080"/>
            <a:ext cx="7223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/>
          <p:nvPr/>
        </p:nvSpPr>
        <p:spPr>
          <a:xfrm>
            <a:off x="1755648" y="4105656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예측값이 자동으로 설비에 전달됩니다. 운영자 개입 없이 주입률이 자동 조정됩니다.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상한/하한 범위를 벗어나는 값은 자동으로 클리핑됩니다.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74320" y="4713478"/>
            <a:ext cx="8595360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11480" y="473176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상한/하한은 연필 아이콘 클릭 후 수정 가능합니다 (입력 범위 0~200 ppm). 저장 시 TB_AI_C_INIT 테이블의 c_cf_max / c_cf_min 값이 업데이트되며, 이후 AI가 산출하는 모든 제어값에 즉시 반영됩니다.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공정 — 기본 정보 및 연관 DB 테이블 (ai_d.py)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574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(D 공정)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proc_cd = D / ai_cd = 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14600" y="868680"/>
            <a:ext cx="20574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8775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대상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8775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응집기 지별 G값 설정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(1지 / 2지 각각 예측)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20574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2803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(time.sleep(600))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516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995160" y="868680"/>
            <a:ext cx="20574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6831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기준 기간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6831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10분 단위 절삭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최근 3시간(180분) 데이터 활용</a:t>
            </a:r>
            <a:endParaRPr lang="en-US" sz="105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1302266-9DC2-BECE-4F69-9539798B6E56}"/>
              </a:ext>
            </a:extLst>
          </p:cNvPr>
          <p:cNvGrpSpPr/>
          <p:nvPr/>
        </p:nvGrpSpPr>
        <p:grpSpPr>
          <a:xfrm>
            <a:off x="274320" y="2267712"/>
            <a:ext cx="8647430" cy="2784348"/>
            <a:chOff x="274320" y="2267712"/>
            <a:chExt cx="8595360" cy="3831336"/>
          </a:xfrm>
        </p:grpSpPr>
        <p:sp>
          <p:nvSpPr>
            <p:cNvPr id="20" name="Shape 18"/>
            <p:cNvSpPr/>
            <p:nvPr/>
          </p:nvSpPr>
          <p:spPr>
            <a:xfrm>
              <a:off x="274320" y="2267712"/>
              <a:ext cx="8595360" cy="310896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Text 19"/>
            <p:cNvSpPr/>
            <p:nvPr/>
          </p:nvSpPr>
          <p:spPr>
            <a:xfrm>
              <a:off x="365760" y="2267712"/>
              <a:ext cx="8412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연관 DB 테이블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2578608"/>
              <a:ext cx="8595360" cy="6675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2578608"/>
              <a:ext cx="1920240" cy="66751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4" name="Text 22"/>
            <p:cNvSpPr/>
            <p:nvPr/>
          </p:nvSpPr>
          <p:spPr>
            <a:xfrm>
              <a:off x="320040" y="2578608"/>
              <a:ext cx="182880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TB_D_RT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286000" y="2578608"/>
              <a:ext cx="6492240" cy="667512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실시간 태그 데이터 수집 (응집기, 주입기, RPM 등 계측값 1분 단위 적재)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74320" y="3291840"/>
              <a:ext cx="8595360" cy="66751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Shape 25"/>
            <p:cNvSpPr/>
            <p:nvPr/>
          </p:nvSpPr>
          <p:spPr>
            <a:xfrm>
              <a:off x="274320" y="3291840"/>
              <a:ext cx="1920240" cy="66751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8" name="Text 26"/>
            <p:cNvSpPr/>
            <p:nvPr/>
          </p:nvSpPr>
          <p:spPr>
            <a:xfrm>
              <a:off x="320040" y="3291840"/>
              <a:ext cx="182880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TB_AI_D_RT</a:t>
              </a:r>
              <a:endParaRPr lang="en-US" sz="10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286000" y="3291840"/>
              <a:ext cx="6492240" cy="667512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예측 결과 저장 — IN_VAL(입력값) / OUT_VAL(G값 예측결과) JSON 형태로 적재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74320" y="4005072"/>
              <a:ext cx="8595360" cy="6675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" y="4005072"/>
              <a:ext cx="1920240" cy="66751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2" name="Text 30"/>
            <p:cNvSpPr/>
            <p:nvPr/>
          </p:nvSpPr>
          <p:spPr>
            <a:xfrm>
              <a:off x="320040" y="4005072"/>
              <a:ext cx="182880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TB_AI_D_INIT</a:t>
              </a:r>
              <a:endParaRPr lang="en-US" sz="10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286000" y="4005072"/>
              <a:ext cx="6492240" cy="667512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운전모드, G값 상·하한, 보정계수 등 설정값 저장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74320" y="4718304"/>
              <a:ext cx="8595360" cy="66751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Shape 33"/>
            <p:cNvSpPr/>
            <p:nvPr/>
          </p:nvSpPr>
          <p:spPr>
            <a:xfrm>
              <a:off x="274320" y="4718304"/>
              <a:ext cx="1920240" cy="66751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6" name="Text 34"/>
            <p:cNvSpPr/>
            <p:nvPr/>
          </p:nvSpPr>
          <p:spPr>
            <a:xfrm>
              <a:off x="320040" y="4718304"/>
              <a:ext cx="182880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TB_AI_D_CTR</a:t>
              </a:r>
              <a:endParaRPr lang="en-US" sz="10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2286000" y="4718304"/>
              <a:ext cx="6492240" cy="667512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실제 설비 제어 명령 저장 (Kafka 전송 전 적재 / kfk_flg로 전송 상태 관리)</a:t>
              </a:r>
              <a:endParaRPr lang="en-US" sz="10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74320" y="5431536"/>
              <a:ext cx="8595360" cy="6675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9" name="Shape 37"/>
            <p:cNvSpPr/>
            <p:nvPr/>
          </p:nvSpPr>
          <p:spPr>
            <a:xfrm>
              <a:off x="274320" y="5431536"/>
              <a:ext cx="1920240" cy="66751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0" name="Text 38"/>
            <p:cNvSpPr/>
            <p:nvPr/>
          </p:nvSpPr>
          <p:spPr>
            <a:xfrm>
              <a:off x="320040" y="5431536"/>
              <a:ext cx="1828800" cy="667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TB_AI_D_ALM</a:t>
              </a:r>
              <a:endParaRPr lang="en-US" sz="10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2286000" y="5431536"/>
              <a:ext cx="6492240" cy="667512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알람 이력 저장 (G값 임계치 초과, G값 변경, AI 분석 이상 등)</a:t>
              </a:r>
              <a:endParaRPr lang="en-US" sz="1000" dirty="0"/>
            </a:p>
          </p:txBody>
        </p: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공정 — 입력 태그 목록 (TB_D_RT에서 수집)</a:t>
            </a:r>
            <a:endParaRPr lang="en-US" sz="2000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AC9B0FC-B8BF-2FEB-9A31-CDF5467E8701}"/>
              </a:ext>
            </a:extLst>
          </p:cNvPr>
          <p:cNvGrpSpPr/>
          <p:nvPr/>
        </p:nvGrpSpPr>
        <p:grpSpPr>
          <a:xfrm>
            <a:off x="274320" y="868680"/>
            <a:ext cx="8691880" cy="4128770"/>
            <a:chOff x="274320" y="868680"/>
            <a:chExt cx="8595360" cy="4818888"/>
          </a:xfrm>
        </p:grpSpPr>
        <p:sp>
          <p:nvSpPr>
            <p:cNvPr id="4" name="Shape 2"/>
            <p:cNvSpPr/>
            <p:nvPr/>
          </p:nvSpPr>
          <p:spPr>
            <a:xfrm>
              <a:off x="274320" y="868680"/>
              <a:ext cx="8595360" cy="310896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320040" y="868680"/>
              <a:ext cx="24231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태그번호</a:t>
              </a:r>
              <a:endParaRPr lang="en-US" sz="11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788920" y="868680"/>
              <a:ext cx="46177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DP (공식 명칭)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452360" y="868680"/>
              <a:ext cx="13716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활용 방식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74320" y="1179576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20040" y="1179576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771-358-TEI-6028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788920" y="1179576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원수 온도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695409" y="1179576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74320" y="1444752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320040" y="1444752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771-358-TEI-2111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788920" y="1444752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1지 수온</a:t>
              </a:r>
              <a:endParaRPr lang="en-US" sz="10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695409" y="1444752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74320" y="1709928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320040" y="1709928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771-358-TEI-2121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788920" y="1709928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2지 수온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695409" y="1709928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274320" y="1975104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320040" y="1975104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771-358-FRI-2011</a:t>
              </a:r>
              <a:endParaRPr lang="en-US" sz="9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788920" y="1975104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공업용수 원수유입유량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695409" y="1975104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74320" y="2240280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320040" y="2240280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771-358-CFI-2462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788920" y="2240280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PAC 주입기#1 현재주입률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332768" y="2240280"/>
              <a:ext cx="2491192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#1·#2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합산 →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하나로 계산</a:t>
              </a:r>
              <a:endParaRPr lang="en-US" sz="9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74320" y="2505456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320040" y="2505456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771-358-CFI-2472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788920" y="2505456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PAC 주입기#2 현재주입률</a:t>
              </a:r>
              <a:endParaRPr lang="en-US" sz="10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243286" y="2505456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#1·#2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합산 →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하나로 계산</a:t>
              </a:r>
              <a:endParaRPr lang="en-US" sz="9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74320" y="2770632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320040" y="2770632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771-358-CFB-2462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2788920" y="2770632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PAC 주입기#1 RUN 상태</a:t>
              </a:r>
              <a:endParaRPr lang="en-US" sz="10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243286" y="2770631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가동 중인 펌프만 선택해서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계산에 반영</a:t>
              </a:r>
              <a:endParaRPr lang="en-US" sz="9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74320" y="3035808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320040" y="3035808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771-358-CFB-2472</a:t>
              </a:r>
              <a:endParaRPr lang="en-US" sz="9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788920" y="3035808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PAC 주입기#2 RUN 상태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243286" y="3035808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가동 중인 펌프만 선택해서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계산에 반영</a:t>
              </a:r>
              <a:endParaRPr lang="en-US" sz="9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274320" y="3300984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320040" y="3300984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771-358-CFC-2101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2788920" y="3300984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응집지 약품주입율</a:t>
              </a:r>
              <a:endParaRPr lang="en-US" sz="10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6695409" y="3300984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74320" y="3566160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320040" y="3566160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771-358-LEI-2111</a:t>
              </a:r>
              <a:endParaRPr lang="en-US" sz="9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2788920" y="3566160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1지 수위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695409" y="3566160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74320" y="3831336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320040" y="3831336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771-358-LEI-2121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2788920" y="3831336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2지 수위</a:t>
              </a:r>
              <a:endParaRPr lang="en-US" sz="10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695409" y="3831336"/>
              <a:ext cx="2128551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입력값으로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그대로 사용</a:t>
              </a:r>
              <a:endParaRPr lang="en-US" sz="95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74320" y="4096512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320040" y="4096512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771-358-FCC-2111</a:t>
              </a:r>
              <a:endParaRPr lang="en-US" sz="9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2788920" y="4096512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1지 G값 설정</a:t>
              </a:r>
              <a:endParaRPr lang="en-US" sz="10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6243286" y="4096512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값과 비교해서 변경 여부 판단</a:t>
              </a:r>
              <a:endParaRPr lang="en-US" sz="9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74320" y="4361688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320040" y="4361688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771-358-FCC-2121</a:t>
              </a:r>
              <a:endParaRPr lang="en-US" sz="9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2788920" y="4361688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2지 G값 설정</a:t>
              </a:r>
              <a:endParaRPr lang="en-US" sz="10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243286" y="4361688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값과 비교해서 변경 여부 판단</a:t>
              </a:r>
              <a:endParaRPr lang="en-US" sz="95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274320" y="4626864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320040" y="4626864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771-358-XXI-2112 / 2114</a:t>
              </a:r>
              <a:endParaRPr lang="en-US" sz="9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2788920" y="4626864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1지 #1/#2 RPM값</a:t>
              </a:r>
              <a:endParaRPr lang="en-US" sz="10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902632" y="4626865"/>
              <a:ext cx="1921328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값 →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RPM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변환 공식에 사용</a:t>
              </a:r>
              <a:endParaRPr lang="en-US" sz="95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74320" y="4892040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320040" y="4892040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771-358-XXI-2122 / 2124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2788920" y="4892040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2지 #1/#2 RPM값</a:t>
              </a:r>
              <a:endParaRPr lang="en-US" sz="10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6902632" y="4892040"/>
              <a:ext cx="1921328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값 →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RPM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변환 공식에 사용</a:t>
              </a:r>
              <a:endParaRPr lang="en-US" sz="95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274320" y="5157216"/>
              <a:ext cx="8595360" cy="26517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320040" y="5157216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771-358-FCB-2112 / 2114</a:t>
              </a:r>
              <a:endParaRPr lang="en-US" sz="9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2788920" y="5157216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1지 #1/#2 RUN 상태</a:t>
              </a:r>
              <a:endParaRPr lang="en-US" sz="10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6243286" y="5157216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해당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교반기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가동 중일 때만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RPM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계산에 포함</a:t>
              </a:r>
              <a:endParaRPr lang="en-US" sz="95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274320" y="5422392"/>
              <a:ext cx="8595360" cy="2651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71"/>
            <p:cNvSpPr/>
            <p:nvPr/>
          </p:nvSpPr>
          <p:spPr>
            <a:xfrm>
              <a:off x="320040" y="5422392"/>
              <a:ext cx="242316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771-358-FCB-2122 / 2124</a:t>
              </a:r>
              <a:endParaRPr lang="en-US" sz="9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2788920" y="5422392"/>
              <a:ext cx="4617720" cy="2651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응집기 2지 #1/#2 RUN 상태</a:t>
              </a:r>
              <a:endParaRPr lang="en-US" sz="10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6243286" y="5422392"/>
              <a:ext cx="2580674" cy="265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해당 </a:t>
              </a:r>
              <a:r>
                <a:rPr lang="ko-KR" altLang="en-US" sz="95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교반기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가동 중일 때만 </a:t>
              </a:r>
              <a:r>
                <a:rPr lang="en-US" altLang="ko-KR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RPM </a:t>
              </a:r>
              <a:r>
                <a:rPr lang="ko-KR" altLang="en-US" sz="95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계산에 포함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공정 — TB_AI_D_INIT 설정값 및 알람 ID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3108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 주요 설정값</a:t>
            </a:r>
            <a:endParaRPr lang="en-US" sz="14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FC88E58-D1CE-B352-E81C-C15A92F55A00}"/>
              </a:ext>
            </a:extLst>
          </p:cNvPr>
          <p:cNvGrpSpPr/>
          <p:nvPr/>
        </p:nvGrpSpPr>
        <p:grpSpPr>
          <a:xfrm>
            <a:off x="274320" y="1271016"/>
            <a:ext cx="8688705" cy="1828800"/>
            <a:chOff x="274320" y="1271016"/>
            <a:chExt cx="9070848" cy="1828800"/>
          </a:xfrm>
        </p:grpSpPr>
        <p:sp>
          <p:nvSpPr>
            <p:cNvPr id="6" name="Shape 4"/>
            <p:cNvSpPr/>
            <p:nvPr/>
          </p:nvSpPr>
          <p:spPr>
            <a:xfrm>
              <a:off x="274320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1271016"/>
              <a:ext cx="1435608" cy="32004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d_operation_mode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38328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운전모드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0=수동 / 1=반자동 / 2=자동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801368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801368" y="1271016"/>
              <a:ext cx="1435608" cy="3200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1847088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d_g_value_ctr_flag</a:t>
              </a:r>
              <a:endParaRPr lang="en-US" sz="8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865376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G값 제어 모드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0=G값 수동 / 1=G값 자동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328416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3328416" y="1271016"/>
              <a:ext cx="1435608" cy="32004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3374136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d_g_value_loc1/2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392424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열별 수동 G값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(G값 수동모드 시 사용)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855464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855464" y="1271016"/>
              <a:ext cx="1435608" cy="3200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901184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d_g_step1/2_crt</a:t>
              </a:r>
              <a:endParaRPr lang="en-US" sz="8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919472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열별 보정계수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(G값 자동모드 시 적용)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382512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6382512" y="1271016"/>
              <a:ext cx="1435608" cy="32004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6428232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d_g_step1/2_min</a:t>
              </a:r>
              <a:endParaRPr lang="en-US" sz="8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446520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열별 G값 하한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예측값 미만 시 하한 고정</a:t>
              </a:r>
              <a:endParaRPr lang="en-US" sz="10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909560" y="1271016"/>
              <a:ext cx="1435608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7909560" y="1271016"/>
              <a:ext cx="1435608" cy="32004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7955280" y="1271016"/>
              <a:ext cx="13441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d_g_step1/2_max</a:t>
              </a:r>
              <a:endParaRPr lang="en-US" sz="85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973568" y="1627632"/>
              <a:ext cx="1307592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열별 G값 상한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예측값 초과 시 상한 고정</a:t>
              </a:r>
              <a:endParaRPr lang="en-US" sz="1000" dirty="0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409174B2-425D-7C61-71F0-F38246D55039}"/>
              </a:ext>
            </a:extLst>
          </p:cNvPr>
          <p:cNvGrpSpPr/>
          <p:nvPr/>
        </p:nvGrpSpPr>
        <p:grpSpPr>
          <a:xfrm>
            <a:off x="274320" y="3218688"/>
            <a:ext cx="8595360" cy="1819656"/>
            <a:chOff x="274320" y="3218688"/>
            <a:chExt cx="8595360" cy="2258568"/>
          </a:xfrm>
        </p:grpSpPr>
        <p:sp>
          <p:nvSpPr>
            <p:cNvPr id="30" name="Shape 28"/>
            <p:cNvSpPr/>
            <p:nvPr/>
          </p:nvSpPr>
          <p:spPr>
            <a:xfrm>
              <a:off x="274320" y="3218688"/>
              <a:ext cx="8595360" cy="310896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365760" y="3218688"/>
              <a:ext cx="84124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알람 ID — 혼화응집 공정</a:t>
              </a:r>
              <a:endParaRPr lang="en-US" sz="1400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6BE31AA0-7DDC-38A8-D49C-B8F3B408A245}"/>
                </a:ext>
              </a:extLst>
            </p:cNvPr>
            <p:cNvGrpSpPr/>
            <p:nvPr/>
          </p:nvGrpSpPr>
          <p:grpSpPr>
            <a:xfrm>
              <a:off x="274320" y="3529584"/>
              <a:ext cx="8595360" cy="1947672"/>
              <a:chOff x="274320" y="3529584"/>
              <a:chExt cx="8595360" cy="1947672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274320" y="3529584"/>
                <a:ext cx="8595360" cy="4389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7DFF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274320" y="3529584"/>
                <a:ext cx="822960" cy="438912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274320" y="3529584"/>
                <a:ext cx="82296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133005</a:t>
                </a:r>
                <a:endParaRPr lang="en-US" sz="1200" dirty="0"/>
              </a:p>
            </p:txBody>
          </p:sp>
          <p:sp>
            <p:nvSpPr>
              <p:cNvPr id="35" name="Shape 33"/>
              <p:cNvSpPr/>
              <p:nvPr/>
            </p:nvSpPr>
            <p:spPr>
              <a:xfrm>
                <a:off x="1097280" y="3529584"/>
                <a:ext cx="914400" cy="438912"/>
              </a:xfrm>
              <a:prstGeom prst="rect">
                <a:avLst/>
              </a:prstGeom>
              <a:solidFill>
                <a:srgbClr val="DBEAFE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1097280" y="3529584"/>
                <a:ext cx="9144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반자동·자동</a:t>
                </a:r>
                <a:endParaRPr lang="en-US" sz="90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2084832" y="3529584"/>
                <a:ext cx="6720840" cy="438912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기존 G값 대비 ±20% 초과 시 발생 — 초과 값으로 제어 명령 전달.</a:t>
                </a:r>
                <a:endParaRPr lang="en-US" sz="1050" dirty="0"/>
              </a:p>
            </p:txBody>
          </p:sp>
          <p:sp>
            <p:nvSpPr>
              <p:cNvPr id="38" name="Shape 36"/>
              <p:cNvSpPr/>
              <p:nvPr/>
            </p:nvSpPr>
            <p:spPr>
              <a:xfrm>
                <a:off x="274320" y="4032504"/>
                <a:ext cx="8595360" cy="438912"/>
              </a:xfrm>
              <a:prstGeom prst="rect">
                <a:avLst/>
              </a:prstGeom>
              <a:solidFill>
                <a:srgbClr val="EFF8FF"/>
              </a:solidFill>
              <a:ln w="12700">
                <a:solidFill>
                  <a:srgbClr val="C7DFF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274320" y="4032504"/>
                <a:ext cx="822960" cy="438912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274320" y="4032504"/>
                <a:ext cx="82296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133001</a:t>
                </a:r>
                <a:endParaRPr lang="en-US" sz="1200" dirty="0"/>
              </a:p>
            </p:txBody>
          </p:sp>
          <p:sp>
            <p:nvSpPr>
              <p:cNvPr id="41" name="Shape 39"/>
              <p:cNvSpPr/>
              <p:nvPr/>
            </p:nvSpPr>
            <p:spPr>
              <a:xfrm>
                <a:off x="1097280" y="4032504"/>
                <a:ext cx="914400" cy="438912"/>
              </a:xfrm>
              <a:prstGeom prst="rect">
                <a:avLst/>
              </a:prstGeom>
              <a:solidFill>
                <a:srgbClr val="DBEAFE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1097280" y="4032504"/>
                <a:ext cx="9144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반자동</a:t>
                </a:r>
                <a:endParaRPr lang="en-US" sz="90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2084832" y="4032504"/>
                <a:ext cx="6720840" cy="438912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임계치 미초과 시 G값 변경 제어 발생 시 알람.</a:t>
                </a:r>
                <a:endParaRPr lang="en-US" sz="1050" dirty="0"/>
              </a:p>
            </p:txBody>
          </p:sp>
          <p:sp>
            <p:nvSpPr>
              <p:cNvPr id="44" name="Shape 42"/>
              <p:cNvSpPr/>
              <p:nvPr/>
            </p:nvSpPr>
            <p:spPr>
              <a:xfrm>
                <a:off x="274320" y="4535424"/>
                <a:ext cx="8595360" cy="43891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7DFF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274320" y="4535424"/>
                <a:ext cx="822960" cy="438912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274320" y="4535424"/>
                <a:ext cx="82296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133004</a:t>
                </a:r>
                <a:endParaRPr lang="en-US" sz="1200" dirty="0"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1097280" y="4535424"/>
                <a:ext cx="914400" cy="438912"/>
              </a:xfrm>
              <a:prstGeom prst="rect">
                <a:avLst/>
              </a:prstGeom>
              <a:solidFill>
                <a:srgbClr val="DBEAFE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8" name="Text 46"/>
              <p:cNvSpPr/>
              <p:nvPr/>
            </p:nvSpPr>
            <p:spPr>
              <a:xfrm>
                <a:off x="1097280" y="4535424"/>
                <a:ext cx="9144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자동</a:t>
                </a:r>
                <a:endParaRPr lang="en-US" sz="900" dirty="0"/>
              </a:p>
            </p:txBody>
          </p:sp>
          <p:sp>
            <p:nvSpPr>
              <p:cNvPr id="49" name="Text 47"/>
              <p:cNvSpPr/>
              <p:nvPr/>
            </p:nvSpPr>
            <p:spPr>
              <a:xfrm>
                <a:off x="2084832" y="4535424"/>
                <a:ext cx="6720840" cy="438912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자동모드에서 임계치 미초과 시 자동 G값 변경 제어 발생 시 알람.</a:t>
                </a:r>
                <a:endParaRPr lang="en-US" sz="1050" dirty="0"/>
              </a:p>
            </p:txBody>
          </p:sp>
          <p:sp>
            <p:nvSpPr>
              <p:cNvPr id="50" name="Shape 48"/>
              <p:cNvSpPr/>
              <p:nvPr/>
            </p:nvSpPr>
            <p:spPr>
              <a:xfrm>
                <a:off x="274320" y="5038344"/>
                <a:ext cx="8595360" cy="438912"/>
              </a:xfrm>
              <a:prstGeom prst="rect">
                <a:avLst/>
              </a:prstGeom>
              <a:solidFill>
                <a:srgbClr val="EFF8FF"/>
              </a:solidFill>
              <a:ln w="12700">
                <a:solidFill>
                  <a:srgbClr val="C7DFF0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1" name="Shape 49"/>
              <p:cNvSpPr/>
              <p:nvPr/>
            </p:nvSpPr>
            <p:spPr>
              <a:xfrm>
                <a:off x="274320" y="5038344"/>
                <a:ext cx="822960" cy="438912"/>
              </a:xfrm>
              <a:prstGeom prst="rect">
                <a:avLst/>
              </a:prstGeom>
              <a:solidFill>
                <a:srgbClr val="DC2626"/>
              </a:solidFill>
              <a:ln w="1270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2" name="Text 50"/>
              <p:cNvSpPr/>
              <p:nvPr/>
            </p:nvSpPr>
            <p:spPr>
              <a:xfrm>
                <a:off x="274320" y="5038344"/>
                <a:ext cx="82296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133002</a:t>
                </a:r>
                <a:endParaRPr lang="en-US" sz="1200" dirty="0"/>
              </a:p>
            </p:txBody>
          </p:sp>
          <p:sp>
            <p:nvSpPr>
              <p:cNvPr id="53" name="Shape 51"/>
              <p:cNvSpPr/>
              <p:nvPr/>
            </p:nvSpPr>
            <p:spPr>
              <a:xfrm>
                <a:off x="1097280" y="5038344"/>
                <a:ext cx="914400" cy="438912"/>
              </a:xfrm>
              <a:prstGeom prst="rect">
                <a:avLst/>
              </a:prstGeom>
              <a:solidFill>
                <a:srgbClr val="DBEAFE"/>
              </a:solidFill>
              <a:ln w="12700">
                <a:solidFill>
                  <a:srgbClr val="BFDBFE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1097280" y="5038344"/>
                <a:ext cx="914400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공통</a:t>
                </a:r>
                <a:endParaRPr lang="en-US" sz="900" dirty="0"/>
              </a:p>
            </p:txBody>
          </p:sp>
          <p:sp>
            <p:nvSpPr>
              <p:cNvPr id="55" name="Text 53"/>
              <p:cNvSpPr/>
              <p:nvPr/>
            </p:nvSpPr>
            <p:spPr>
              <a:xfrm>
                <a:off x="2084832" y="5038344"/>
                <a:ext cx="6720840" cy="438912"/>
              </a:xfrm>
              <a:prstGeom prst="rect">
                <a:avLst/>
              </a:prstGeom>
              <a:noFill/>
              <a:ln/>
            </p:spPr>
            <p:txBody>
              <a:bodyPr wrap="square" lIns="50800" tIns="50800" rIns="50800" bIns="50800" rtlCol="0" anchor="ctr"/>
              <a:lstStyle/>
              <a:p>
                <a:pPr marL="0" indent="0">
                  <a:buNone/>
                </a:pPr>
                <a:r>
                  <a:rPr lang="en-US" sz="1050" dirty="0">
                    <a:solidFill>
                      <a:srgbClr val="1E3A4F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코드 실행 중 예외 발생 시 — ai_d_main.py 에서도 직접 호출됨.</a:t>
                </a:r>
                <a:endParaRPr lang="en-US" sz="1050" dirty="0"/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좌측 설비 현황 (응집기 RPM 및 운영 상태)</a:t>
            </a:r>
            <a:endParaRPr lang="en-US" sz="2000" dirty="0"/>
          </a:p>
        </p:txBody>
      </p:sp>
      <p:pic>
        <p:nvPicPr>
          <p:cNvPr id="4" name="Image 0" descr="/home/claude/mixing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651760" cy="3282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651760" cy="328269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154680" y="868680"/>
            <a:ext cx="5715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246120" y="8686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 선택 탭 (1지 / 2지)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1143000"/>
            <a:ext cx="5715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264408" y="1161288"/>
            <a:ext cx="5495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시 해당 지의 응집기 RPM을 화면에 표시합니다.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선택된 지 기준으로 #1 / #2 응집기의 현재 RPM값을 가져옵니다.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737360"/>
            <a:ext cx="5715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246120" y="173736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#1 / #2 응집기 현재 RPM 표시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4680" y="2011680"/>
            <a:ext cx="5715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246120" y="202996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#1 응집기 RPM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3440" y="202996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771-358-XXI-2112 (1지) / 771-358-XXI-2122 (2지)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35240" y="202996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1지 #1 또는 2지 #1 (선택된 지 기준)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46120" y="233172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#2 응집기 RPM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63440" y="23317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771-358-XXI-2114 (1지) / 771-358-XXI-2124 (2지)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635240" y="233172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1지 #2 또는 2지 #2 (선택된 지 기준)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154680" y="2761488"/>
            <a:ext cx="57150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3246120" y="276148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지/열별 응집기 운영 상태 (LED 점등)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154680" y="3035808"/>
            <a:ext cx="5715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264408" y="3063240"/>
            <a:ext cx="549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점 (운영)</a:t>
            </a: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0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점 (미운영)</a:t>
            </a: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각 응집기의 현재 가동 여부를 표시합니다.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54680" y="3364992"/>
            <a:ext cx="5715000" cy="237744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200400" y="3364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703320" y="3364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응집기 태그번호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0" y="3364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 응집기 태그번호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69480" y="3364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154680" y="3602736"/>
            <a:ext cx="5715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320040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1지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0332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771-358-FCB-2112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0" y="3602736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771-358-FCB-2114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69480" y="3602736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d_loc_fc_stt → location1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154680" y="3877056"/>
            <a:ext cx="5715000" cy="27432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200400" y="3877056"/>
            <a:ext cx="457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2지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703320" y="3877056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771-358-FCB-2122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86400" y="3877056"/>
            <a:ext cx="17373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771-358-FCB-2124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69480" y="3877056"/>
            <a:ext cx="1600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d_loc_fc_stt → location2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154680" y="4224528"/>
            <a:ext cx="5715000" cy="2743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3246120" y="42245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d_loc_fc_stt는 TB_AI_D_RT의 OUT_VAL JSON에서 추출되며, 각 지·열별 응집기의 RUN 상태(1=운영 / 0=미운영)를 담고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주요인자 영역 (화면 표시값 출처 및 AI 활용 여부)</a:t>
            </a:r>
            <a:endParaRPr lang="en-US" sz="2000" dirty="0"/>
          </a:p>
        </p:txBody>
      </p:sp>
      <p:pic>
        <p:nvPicPr>
          <p:cNvPr id="4" name="Image 0" descr="/home/claude/mixing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206240" cy="29900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206240" cy="299008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709160" y="868680"/>
            <a:ext cx="416052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800600" y="86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4160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00600" y="1161288"/>
            <a:ext cx="3977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 테이블에서 읽어오며, AI 모델의 입력인자로 직접 사용됩니다.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수온·점성계수는 선택된 지(1지/2지) 기준으로 표시됩니다.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1627632"/>
            <a:ext cx="4160520" cy="2328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1" name="Text 8"/>
          <p:cNvSpPr/>
          <p:nvPr/>
        </p:nvSpPr>
        <p:spPr>
          <a:xfrm>
            <a:off x="4800600" y="1627632"/>
            <a:ext cx="3977640" cy="23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출처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860508"/>
            <a:ext cx="4160520" cy="217351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3" name="Text 10"/>
          <p:cNvSpPr/>
          <p:nvPr/>
        </p:nvSpPr>
        <p:spPr>
          <a:xfrm>
            <a:off x="4754880" y="1860508"/>
            <a:ext cx="1371600" cy="21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72200" y="1860508"/>
            <a:ext cx="1097280" cy="21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028622" y="1850838"/>
            <a:ext cx="1097280" cy="21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709160" y="2077859"/>
            <a:ext cx="4160520" cy="32602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8" name="Text 15"/>
          <p:cNvSpPr/>
          <p:nvPr/>
        </p:nvSpPr>
        <p:spPr>
          <a:xfrm>
            <a:off x="4754880" y="2077859"/>
            <a:ext cx="137160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교반강도(G) — 1지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72200" y="2077859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d_g_value_loc1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28622" y="2068189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09160" y="2403885"/>
            <a:ext cx="4160520" cy="32602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3" name="Text 20"/>
          <p:cNvSpPr/>
          <p:nvPr/>
        </p:nvSpPr>
        <p:spPr>
          <a:xfrm>
            <a:off x="4754880" y="2403885"/>
            <a:ext cx="137160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원수 수온 (선택 지)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2200" y="2403885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d_te_loc1/2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028622" y="2394215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709160" y="2729912"/>
            <a:ext cx="4160520" cy="32602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8" name="Text 25"/>
          <p:cNvSpPr/>
          <p:nvPr/>
        </p:nvSpPr>
        <p:spPr>
          <a:xfrm>
            <a:off x="4754880" y="2729912"/>
            <a:ext cx="137160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점성 계수 (선택 지)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72200" y="2729912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d_dv_loc1/2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28622" y="2720242"/>
            <a:ext cx="1097280" cy="326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09160" y="3055938"/>
            <a:ext cx="4160520" cy="40365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33" name="Text 30"/>
          <p:cNvSpPr/>
          <p:nvPr/>
        </p:nvSpPr>
        <p:spPr>
          <a:xfrm>
            <a:off x="4754880" y="3055938"/>
            <a:ext cx="137160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임펠러 직경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172200" y="3055938"/>
            <a:ext cx="109728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d_im_d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028622" y="3046268"/>
            <a:ext cx="109728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(고정값: 1.65m)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709160" y="3381964"/>
            <a:ext cx="4160520" cy="4036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38" name="Text 35"/>
          <p:cNvSpPr/>
          <p:nvPr/>
        </p:nvSpPr>
        <p:spPr>
          <a:xfrm>
            <a:off x="4754880" y="3381964"/>
            <a:ext cx="137160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Number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172200" y="3381964"/>
            <a:ext cx="109728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d_pw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028622" y="3372294"/>
            <a:ext cx="1097280" cy="40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(고정값: 0.30)</a:t>
            </a:r>
            <a:endParaRPr lang="en-US" sz="80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99EEAD2-E153-32A5-6E2F-E81FB291C0AF}"/>
              </a:ext>
            </a:extLst>
          </p:cNvPr>
          <p:cNvGrpSpPr/>
          <p:nvPr/>
        </p:nvGrpSpPr>
        <p:grpSpPr>
          <a:xfrm>
            <a:off x="280670" y="3895673"/>
            <a:ext cx="8595360" cy="822960"/>
            <a:chOff x="274320" y="3977640"/>
            <a:chExt cx="8595360" cy="822960"/>
          </a:xfrm>
        </p:grpSpPr>
        <p:sp>
          <p:nvSpPr>
            <p:cNvPr id="42" name="Shape 39"/>
            <p:cNvSpPr/>
            <p:nvPr/>
          </p:nvSpPr>
          <p:spPr>
            <a:xfrm>
              <a:off x="4709160" y="4078224"/>
              <a:ext cx="4160520" cy="475488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40"/>
            <p:cNvSpPr/>
            <p:nvPr/>
          </p:nvSpPr>
          <p:spPr>
            <a:xfrm>
              <a:off x="4754880" y="4078224"/>
              <a:ext cx="1371600" cy="475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조 체적</a:t>
              </a:r>
              <a:endParaRPr lang="en-US" sz="9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6172200" y="4078224"/>
              <a:ext cx="1097280" cy="475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d_v</a:t>
              </a:r>
              <a:endParaRPr lang="en-US" sz="85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7315200" y="4078224"/>
              <a:ext cx="1097280" cy="4754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TB_AI_D_RT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(고정값: 48.45㎥)</a:t>
              </a:r>
              <a:endParaRPr lang="en-US" sz="8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8458200" y="4078224"/>
              <a:ext cx="36576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3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274320" y="397764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5"/>
            <p:cNvSpPr/>
            <p:nvPr/>
          </p:nvSpPr>
          <p:spPr>
            <a:xfrm>
              <a:off x="365760" y="397764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교반강도(G) 설정 박스 — 수동 G값 입력 기능</a:t>
              </a:r>
              <a:endParaRPr lang="en-US" sz="1100" dirty="0"/>
            </a:p>
          </p:txBody>
        </p:sp>
        <p:sp>
          <p:nvSpPr>
            <p:cNvPr id="49" name="Shape 46"/>
            <p:cNvSpPr/>
            <p:nvPr/>
          </p:nvSpPr>
          <p:spPr>
            <a:xfrm>
              <a:off x="274320" y="4251960"/>
              <a:ext cx="85953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411480" y="4270248"/>
              <a:ext cx="83210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d_g_value_ctr_flag = 0 (G값 수동모드)</a:t>
              </a:r>
              <a:r>
                <a:rPr lang="en-US" sz="10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일 때 활성화. 운영자가 직접 지별 G값(sec⁻¹)을 입력하고 [설정] 버튼으로 저장합니다.</a:t>
              </a:r>
              <a:endParaRPr lang="en-US" sz="1050" dirty="0"/>
            </a:p>
            <a:p>
              <a:pPr marL="0" indent="0">
                <a:buNone/>
              </a:pPr>
              <a:r>
                <a:rPr lang="en-US" sz="105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입력한 값은 TB_AI_D_INIT의 d_g_value_loc1/2에 저장되며, AI 예측 G값 대신 이 값이 설비에 전달됩니다.</a:t>
              </a:r>
              <a:endParaRPr lang="en-US" sz="1050" dirty="0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D01A1E2-4D5F-6AD4-E8F9-BDFD26309A6E}"/>
              </a:ext>
            </a:extLst>
          </p:cNvPr>
          <p:cNvGrpSpPr/>
          <p:nvPr/>
        </p:nvGrpSpPr>
        <p:grpSpPr>
          <a:xfrm>
            <a:off x="280670" y="4753696"/>
            <a:ext cx="8595360" cy="256032"/>
            <a:chOff x="274320" y="4873752"/>
            <a:chExt cx="8595360" cy="256032"/>
          </a:xfrm>
        </p:grpSpPr>
        <p:sp>
          <p:nvSpPr>
            <p:cNvPr id="51" name="Shape 48"/>
            <p:cNvSpPr/>
            <p:nvPr/>
          </p:nvSpPr>
          <p:spPr>
            <a:xfrm>
              <a:off x="274320" y="4873752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52" name="Text 49"/>
            <p:cNvSpPr/>
            <p:nvPr/>
          </p:nvSpPr>
          <p:spPr>
            <a:xfrm>
              <a:off x="411480" y="4873752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임펠러 직경(1.65m), Power Number(0.30), 조 체적(48.45㎥)은 정수장 설비 고유 재원값으로 소스코드에 하드코딩되어 있으며 AI 모델 G값 산출식에 직접 사용됩니다.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AI 응집기 설정 속도 예측 영역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274320" y="868679"/>
            <a:ext cx="3791479" cy="2252971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7B1445E-146D-CDDA-9BC8-CB137155179C}"/>
              </a:ext>
            </a:extLst>
          </p:cNvPr>
          <p:cNvGrpSpPr/>
          <p:nvPr/>
        </p:nvGrpSpPr>
        <p:grpSpPr>
          <a:xfrm>
            <a:off x="5532120" y="868680"/>
            <a:ext cx="3337560" cy="1243584"/>
            <a:chOff x="6858000" y="868680"/>
            <a:chExt cx="2011680" cy="1243584"/>
          </a:xfrm>
        </p:grpSpPr>
        <p:sp>
          <p:nvSpPr>
            <p:cNvPr id="6" name="Shape 3"/>
            <p:cNvSpPr/>
            <p:nvPr/>
          </p:nvSpPr>
          <p:spPr>
            <a:xfrm>
              <a:off x="6858000" y="868680"/>
              <a:ext cx="2011680" cy="12435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4"/>
            <p:cNvSpPr/>
            <p:nvPr/>
          </p:nvSpPr>
          <p:spPr>
            <a:xfrm>
              <a:off x="6858000" y="868680"/>
              <a:ext cx="2011680" cy="292608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6903720" y="868680"/>
              <a:ext cx="1920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 결과 시각</a:t>
              </a:r>
              <a:endParaRPr lang="en-US" sz="10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931152" y="1188720"/>
              <a:ext cx="187452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변수명: upd_ti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출처: TB_AI_D_RT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AI가 마지막으로 예측을 수행한 시각</a:t>
              </a:r>
              <a:endParaRPr lang="en-US" sz="10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D9ADDA9-3C13-E656-A4A1-5BC733C430A4}"/>
              </a:ext>
            </a:extLst>
          </p:cNvPr>
          <p:cNvGrpSpPr/>
          <p:nvPr/>
        </p:nvGrpSpPr>
        <p:grpSpPr>
          <a:xfrm>
            <a:off x="274319" y="3121652"/>
            <a:ext cx="5064443" cy="1477779"/>
            <a:chOff x="274320" y="2441448"/>
            <a:chExt cx="5029200" cy="2157984"/>
          </a:xfrm>
        </p:grpSpPr>
        <p:sp>
          <p:nvSpPr>
            <p:cNvPr id="10" name="Shape 7"/>
            <p:cNvSpPr/>
            <p:nvPr/>
          </p:nvSpPr>
          <p:spPr>
            <a:xfrm>
              <a:off x="274320" y="2441448"/>
              <a:ext cx="502920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8"/>
            <p:cNvSpPr/>
            <p:nvPr/>
          </p:nvSpPr>
          <p:spPr>
            <a:xfrm>
              <a:off x="365760" y="2441448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항목별 데이터 출처</a:t>
              </a:r>
              <a:endParaRPr lang="en-US" sz="10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274320" y="2715768"/>
              <a:ext cx="5029200" cy="237744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0"/>
            <p:cNvSpPr/>
            <p:nvPr/>
          </p:nvSpPr>
          <p:spPr>
            <a:xfrm>
              <a:off x="320040" y="2715768"/>
              <a:ext cx="1600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7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965960" y="2715768"/>
              <a:ext cx="1737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변수명</a:t>
              </a:r>
              <a:endParaRPr lang="en-US" sz="7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3749040" y="2715768"/>
              <a:ext cx="15087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출처</a:t>
              </a:r>
              <a:endParaRPr lang="en-US" sz="7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274320" y="2953512"/>
              <a:ext cx="50292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7" name="Text 14"/>
            <p:cNvSpPr/>
            <p:nvPr/>
          </p:nvSpPr>
          <p:spPr>
            <a:xfrm>
              <a:off x="320040" y="295351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#1 현재G값 (1지/2지)</a:t>
              </a:r>
              <a:endParaRPr lang="en-US" sz="8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965960" y="295351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d_loc_fc_g1/2 → step1</a:t>
              </a:r>
              <a:endParaRPr lang="en-US" sz="6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3749040" y="295351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TB_D_RT (실계측)</a:t>
              </a:r>
              <a:endParaRPr lang="en-US" sz="7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74320" y="3227832"/>
              <a:ext cx="5029200" cy="27432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" name="Text 18"/>
            <p:cNvSpPr/>
            <p:nvPr/>
          </p:nvSpPr>
          <p:spPr>
            <a:xfrm>
              <a:off x="320040" y="322783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#2 현재G값 (1지/2지)</a:t>
              </a:r>
              <a:endParaRPr lang="en-US" sz="8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965960" y="322783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d_loc_fc_g1/2 → step2</a:t>
              </a:r>
              <a:endParaRPr lang="en-US" sz="6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3749040" y="322783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TB_D_RT (실계측)</a:t>
              </a:r>
              <a:endParaRPr lang="en-US" sz="7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274320" y="3502152"/>
              <a:ext cx="50292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5" name="Text 22"/>
            <p:cNvSpPr/>
            <p:nvPr/>
          </p:nvSpPr>
          <p:spPr>
            <a:xfrm>
              <a:off x="320040" y="350215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#1 현재 응집기 속도 (RPM)</a:t>
              </a:r>
              <a:endParaRPr lang="en-US" sz="8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1965960" y="350215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d_loc_fc_sp1/2 → step1</a:t>
              </a:r>
              <a:endParaRPr lang="en-US" sz="6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3749040" y="350215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TB_D_RT (실계측)</a:t>
              </a:r>
              <a:endParaRPr lang="en-US" sz="7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274320" y="3776472"/>
              <a:ext cx="5029200" cy="27432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9" name="Text 26"/>
            <p:cNvSpPr/>
            <p:nvPr/>
          </p:nvSpPr>
          <p:spPr>
            <a:xfrm>
              <a:off x="320040" y="377647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#2 현재 응집기 속도 (RPM)</a:t>
              </a:r>
              <a:endParaRPr lang="en-US" sz="8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1965960" y="377647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d_loc_fc_sp1/2 → step2</a:t>
              </a:r>
              <a:endParaRPr lang="en-US" sz="6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3749040" y="377647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TB_D_RT (실계측)</a:t>
              </a:r>
              <a:endParaRPr lang="en-US" sz="7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274320" y="4050792"/>
              <a:ext cx="50292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3" name="Text 30"/>
            <p:cNvSpPr/>
            <p:nvPr/>
          </p:nvSpPr>
          <p:spPr>
            <a:xfrm>
              <a:off x="320040" y="405079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#1 AI 예측 속도 (RPM)</a:t>
              </a:r>
              <a:endParaRPr lang="en-US" sz="8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1965960" y="405079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ai_d_loc_fc_sp1/2 → step1</a:t>
              </a:r>
              <a:endParaRPr lang="en-US" sz="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3749040" y="405079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TB_AI_D_RT</a:t>
              </a:r>
              <a:endParaRPr lang="en-US" sz="7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274320" y="4325112"/>
              <a:ext cx="5029200" cy="27432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320040" y="4325112"/>
              <a:ext cx="160020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#2 AI 예측 속도 (RPM)</a:t>
              </a:r>
              <a:endParaRPr lang="en-US" sz="8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1965960" y="4325112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ai_d_loc_fc_sp1/2 → step2</a:t>
              </a:r>
              <a:endParaRPr lang="en-US" sz="6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3749040" y="4325112"/>
              <a:ext cx="1508760" cy="2743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TB_AI_D_RT</a:t>
              </a:r>
              <a:endParaRPr lang="en-US" sz="700" dirty="0"/>
            </a:p>
          </p:txBody>
        </p:sp>
      </p:grpSp>
      <p:sp>
        <p:nvSpPr>
          <p:cNvPr id="40" name="Shape 37"/>
          <p:cNvSpPr/>
          <p:nvPr/>
        </p:nvSpPr>
        <p:spPr>
          <a:xfrm>
            <a:off x="5532120" y="2221992"/>
            <a:ext cx="33375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5623560" y="2221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설명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532120" y="2569464"/>
            <a:ext cx="3337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3" name="Text 40"/>
          <p:cNvSpPr/>
          <p:nvPr/>
        </p:nvSpPr>
        <p:spPr>
          <a:xfrm>
            <a:off x="5623560" y="26060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현재G값 (S⁻¹)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623560" y="284378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응집기가 현재 실제 운전 중인 G값.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TB_D_RT에서 읽어온 실계측값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532120" y="3236976"/>
            <a:ext cx="3337560" cy="61264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623560" y="32735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응집기 속도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623560" y="35112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#1/#2 응집기의 현재 실제 RPM.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TB_D_RT에서 읽어온 실계측값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532120" y="3904488"/>
            <a:ext cx="3337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5623560" y="394106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속도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623560" y="417880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산출한 권장 응집기 RPM.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TB_AI_D_RT의 OUT_VAL JSON에서 추출</a:t>
            </a:r>
            <a:endParaRPr lang="en-US" sz="95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BB3AEC6-0877-4547-C418-1A3EDC905BA8}"/>
              </a:ext>
            </a:extLst>
          </p:cNvPr>
          <p:cNvGrpSpPr/>
          <p:nvPr/>
        </p:nvGrpSpPr>
        <p:grpSpPr>
          <a:xfrm>
            <a:off x="320040" y="4663440"/>
            <a:ext cx="8595360" cy="402336"/>
            <a:chOff x="274320" y="4846320"/>
            <a:chExt cx="8595360" cy="402336"/>
          </a:xfrm>
        </p:grpSpPr>
        <p:sp>
          <p:nvSpPr>
            <p:cNvPr id="51" name="Shape 48"/>
            <p:cNvSpPr/>
            <p:nvPr/>
          </p:nvSpPr>
          <p:spPr>
            <a:xfrm>
              <a:off x="274320" y="4846320"/>
              <a:ext cx="8595360" cy="402336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2" name="Text 49"/>
            <p:cNvSpPr/>
            <p:nvPr/>
          </p:nvSpPr>
          <p:spPr>
            <a:xfrm>
              <a:off x="411480" y="4864608"/>
              <a:ext cx="8321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#1 / #2는 응집기 열(Step) 번호입니다. </a:t>
              </a: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좌측 1지/2지 탭에서 선택한 지 기준으로 해당 지의 #1/#2 응집기 데이터가 표시됩니다.
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AI 예측 속도가 현재 속도와 다른 경우, 운전모드(반자동/자동)에 따라 TB_AI_D_CTR → Kafka → 설비로 제어 신호가 전달됩니다.</a:t>
              </a:r>
              <a:endParaRPr lang="en-US" sz="800" dirty="0"/>
            </a:p>
          </p:txBody>
        </p:sp>
      </p:grpSp>
      <p:pic>
        <p:nvPicPr>
          <p:cNvPr id="55" name="그림 54">
            <a:extLst>
              <a:ext uri="{FF2B5EF4-FFF2-40B4-BE49-F238E27FC236}">
                <a16:creationId xmlns:a16="http://schemas.microsoft.com/office/drawing/2014/main" id="{98E335CA-84D1-8FD0-9056-D84DCF1D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874204"/>
            <a:ext cx="5064442" cy="22291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원수 수온 트렌드 차트</a:t>
            </a:r>
            <a:endParaRPr lang="en-US" sz="2200" dirty="0"/>
          </a:p>
        </p:txBody>
      </p:sp>
      <p:pic>
        <p:nvPicPr>
          <p:cNvPr id="4" name="Image 0" descr="/home/claude/mixing_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75488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754880" cy="2971800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1143000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1143000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91072" y="1143000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12080" y="1499616"/>
            <a:ext cx="3657600" cy="457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257800" y="1499616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태그번호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91072" y="1499616"/>
            <a:ext cx="2532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771-358-TEI-2111 (1지)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771-358-TEI-2121 (2지)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12080" y="1956816"/>
            <a:ext cx="3657600" cy="457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257800" y="1956816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91072" y="1956816"/>
            <a:ext cx="2532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(d_te_loc1 / d_te_loc2 컬럼)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2313432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257800" y="2313432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91072" y="2313432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212080" y="2670048"/>
            <a:ext cx="3657600" cy="35661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257800" y="2670048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91072" y="2670048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(날짜·시 표시)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12080" y="3026664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257800" y="3026664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91072" y="3026664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℃ (수온)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212080" y="3383280"/>
            <a:ext cx="3657600" cy="35661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257800" y="3383280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91072" y="3383280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 = 1지 수온 / 파란색 = 2지 수온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3931920"/>
            <a:ext cx="85953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의미 및 AI 활용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11480" y="4224528"/>
            <a:ext cx="8321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1지/2지 응집기 수조의 원수 수온을 24시간 시계열로 표시합니다. 수온은 물의 점성계수 산출에 직접 사용되며, 점성계수는 AI G값 예측 산출식의 핵심 입력 인자입니다.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현재 화면 기준: 1지·2지 모두 약 11℃로 안정적이며, Y축 자동 스케일(min-0.5 ~ max+0.5)이 적용되어 있습니다.</a:t>
            </a:r>
            <a:endParaRPr lang="en-US" sz="10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14A54E9-DE96-B70C-3352-D5797FFFBFB4}"/>
              </a:ext>
            </a:extLst>
          </p:cNvPr>
          <p:cNvGrpSpPr/>
          <p:nvPr/>
        </p:nvGrpSpPr>
        <p:grpSpPr>
          <a:xfrm>
            <a:off x="274320" y="4846320"/>
            <a:ext cx="8595360" cy="256032"/>
            <a:chOff x="274320" y="4992624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4992624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992624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우측 상단 ≡ 메뉴로 전체화면·JPEG 저장 가능. Y축은 실측값 범위 ±0.5로 자동 조정됩니다.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응집기 설정 속도 예측 트렌드 차트</a:t>
            </a:r>
            <a:endParaRPr lang="en-US" sz="2100" dirty="0"/>
          </a:p>
        </p:txBody>
      </p:sp>
      <p:pic>
        <p:nvPicPr>
          <p:cNvPr id="4" name="Image 0" descr="/home/claude/mixing_spee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754880" cy="2962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754880" cy="296265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1143000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1143000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91072" y="1143000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0" y="1499616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257800" y="1499616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91072" y="1499616"/>
            <a:ext cx="2532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(ai_d_loc_fc_sp 컬럼 JSON)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12080" y="1856232"/>
            <a:ext cx="3657600" cy="35661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257800" y="1856232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91072" y="1856232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2212848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257800" y="2212848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선택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91072" y="2212848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우측 상단 1지/2지 탭으로 전환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212080" y="2569464"/>
            <a:ext cx="3657600" cy="35661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257800" y="2569464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91072" y="2569464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(6시간 간격 tick)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12080" y="2926080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257800" y="2926080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91072" y="2926080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RPM (응집기 설정 속도)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212080" y="3282696"/>
            <a:ext cx="3657600" cy="356616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257800" y="3282696"/>
            <a:ext cx="1005840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91072" y="3282696"/>
            <a:ext cx="253288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 = #1 응집기 / 파란색 = #2 응집기</a:t>
            </a:r>
            <a:endParaRPr lang="en-US" sz="9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EAC7D92-8ABD-D749-7EFD-5F96F3C7BB42}"/>
              </a:ext>
            </a:extLst>
          </p:cNvPr>
          <p:cNvGrpSpPr/>
          <p:nvPr/>
        </p:nvGrpSpPr>
        <p:grpSpPr>
          <a:xfrm>
            <a:off x="274320" y="3931920"/>
            <a:ext cx="8595360" cy="704088"/>
            <a:chOff x="274320" y="3931920"/>
            <a:chExt cx="8595360" cy="987552"/>
          </a:xfrm>
        </p:grpSpPr>
        <p:sp>
          <p:nvSpPr>
            <p:cNvPr id="32" name="Shape 29"/>
            <p:cNvSpPr/>
            <p:nvPr/>
          </p:nvSpPr>
          <p:spPr>
            <a:xfrm>
              <a:off x="274320" y="393192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393192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차트 의미 및 원수 수온 차트와의 관계</a:t>
              </a:r>
              <a:endParaRPr lang="en-US" sz="105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206240"/>
              <a:ext cx="859536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224528"/>
              <a:ext cx="83210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AI가 예측한 지별·열별 응집기 설정 RPM을 24시간 시계열로 표시합니다. 현재 화면에서 #1/#2 모두 9.37 RPM으로 일정하게 유지 중입니다.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원수 수온 차트(슬라이드 19)와 같은 태그 데이터를 공유하며, 수온 변화 → 점성계수 변화 → AI G값 예측 → RPM 변환 순으로 이 값이 산출됩니다.</a:t>
              </a:r>
              <a:endParaRPr lang="en-US" sz="10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509DD45-DF7E-D91F-BD1B-8440A43DED7E}"/>
              </a:ext>
            </a:extLst>
          </p:cNvPr>
          <p:cNvGrpSpPr/>
          <p:nvPr/>
        </p:nvGrpSpPr>
        <p:grpSpPr>
          <a:xfrm>
            <a:off x="274320" y="4796028"/>
            <a:ext cx="8595360" cy="256032"/>
            <a:chOff x="274320" y="4992624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4992624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992624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현재 시점 기준선(흰 점선)이 차트에 표시됩니다. 우측 상단 ≡ 메뉴로 전체화면·JPEG·CSV·Excel 저장 가능합니다.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혼화응집 — AI 운전 모드 및 G값 상·하한 설정</a:t>
            </a:r>
            <a:endParaRPr lang="en-US" sz="2200" dirty="0"/>
          </a:p>
        </p:txBody>
      </p:sp>
      <p:pic>
        <p:nvPicPr>
          <p:cNvPr id="4" name="Image 0" descr="/home/claude/mixing_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291840" cy="17922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291840" cy="1792224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749040" y="868680"/>
            <a:ext cx="51206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840480" y="868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749040" y="1143000"/>
            <a:ext cx="5120640" cy="256032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794760" y="1143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66360" y="1143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46520" y="1143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ITM 키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11430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49040" y="1399032"/>
            <a:ext cx="5120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794760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운전모드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6636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ai_opr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44652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d_operation_mode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863840" y="1399032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49040" y="1673352"/>
            <a:ext cx="5120640" cy="27432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794760" y="1673352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상한 G값 (S⁻¹)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66360" y="1673352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d_g_step1_max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46520" y="1673352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d_g_step1_max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863840" y="1673352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749040" y="1947672"/>
            <a:ext cx="5120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794760" y="1947672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하한 G값 (S⁻¹)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166360" y="1947672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d_g_step1_min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46520" y="1947672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d_g_step1_min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863840" y="1947672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749040" y="2221992"/>
            <a:ext cx="5120640" cy="27432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3794760" y="2221992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 상한 G값 (S⁻¹)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166360" y="2221992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d_g_step2_max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446520" y="2221992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d_g_step2_max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863840" y="2221992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749040" y="2496312"/>
            <a:ext cx="5120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794760" y="2496312"/>
            <a:ext cx="13258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 하한 G값 (S⁻¹)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166360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d_g_step2_min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46520" y="2496312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d_g_step2_min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863840" y="2496312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TB_AI_D_INIT</a:t>
            </a:r>
            <a:endParaRPr lang="en-US" sz="85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B4B3F19-DB6C-CCF2-0A92-DCEF08784434}"/>
              </a:ext>
            </a:extLst>
          </p:cNvPr>
          <p:cNvGrpSpPr/>
          <p:nvPr/>
        </p:nvGrpSpPr>
        <p:grpSpPr>
          <a:xfrm>
            <a:off x="274320" y="2816352"/>
            <a:ext cx="8595360" cy="1664208"/>
            <a:chOff x="274320" y="2816352"/>
            <a:chExt cx="8595360" cy="1993392"/>
          </a:xfrm>
        </p:grpSpPr>
        <p:sp>
          <p:nvSpPr>
            <p:cNvPr id="38" name="Shape 35"/>
            <p:cNvSpPr/>
            <p:nvPr/>
          </p:nvSpPr>
          <p:spPr>
            <a:xfrm>
              <a:off x="274320" y="2816352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39" name="Text 36"/>
            <p:cNvSpPr/>
            <p:nvPr/>
          </p:nvSpPr>
          <p:spPr>
            <a:xfrm>
              <a:off x="365760" y="2816352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운전 모드 3단계 — 버튼별 동작 설명</a:t>
              </a:r>
              <a:endParaRPr lang="en-US" sz="1100" dirty="0"/>
            </a:p>
          </p:txBody>
        </p:sp>
        <p:sp>
          <p:nvSpPr>
            <p:cNvPr id="40" name="Shape 37"/>
            <p:cNvSpPr/>
            <p:nvPr/>
          </p:nvSpPr>
          <p:spPr>
            <a:xfrm>
              <a:off x="274320" y="3163824"/>
              <a:ext cx="1188720" cy="512064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1" name="Text 38"/>
            <p:cNvSpPr/>
            <p:nvPr/>
          </p:nvSpPr>
          <p:spPr>
            <a:xfrm>
              <a:off x="274320" y="3163824"/>
              <a:ext cx="1188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AI분석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(ai_opr = 0)</a:t>
              </a:r>
              <a:endParaRPr lang="en-US" sz="1000" dirty="0"/>
            </a:p>
          </p:txBody>
        </p:sp>
        <p:sp>
          <p:nvSpPr>
            <p:cNvPr id="42" name="Shape 39"/>
            <p:cNvSpPr/>
            <p:nvPr/>
          </p:nvSpPr>
          <p:spPr>
            <a:xfrm>
              <a:off x="1463040" y="3163824"/>
              <a:ext cx="7406640" cy="5120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3" name="Text 40"/>
            <p:cNvSpPr/>
            <p:nvPr/>
          </p:nvSpPr>
          <p:spPr>
            <a:xfrm>
              <a:off x="1572768" y="3200400"/>
              <a:ext cx="7223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AI가 G값을 예측하고 응집기 RPM을 산출하지만 설비에 제어 신호를 보내지 않습니다.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화면에 예측 결과만 표시되며, 운영자가 직접 G값을 조정합니다.</a:t>
              </a:r>
              <a:endParaRPr lang="en-US" sz="1000" dirty="0"/>
            </a:p>
          </p:txBody>
        </p:sp>
        <p:sp>
          <p:nvSpPr>
            <p:cNvPr id="44" name="Shape 41"/>
            <p:cNvSpPr/>
            <p:nvPr/>
          </p:nvSpPr>
          <p:spPr>
            <a:xfrm>
              <a:off x="274320" y="3730752"/>
              <a:ext cx="1188720" cy="512064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5" name="Text 42"/>
            <p:cNvSpPr/>
            <p:nvPr/>
          </p:nvSpPr>
          <p:spPr>
            <a:xfrm>
              <a:off x="274320" y="3730752"/>
              <a:ext cx="1188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AI추천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(ai_opr = 1)</a:t>
              </a:r>
              <a:endParaRPr lang="en-US" sz="1000" dirty="0"/>
            </a:p>
          </p:txBody>
        </p:sp>
        <p:sp>
          <p:nvSpPr>
            <p:cNvPr id="46" name="Shape 43"/>
            <p:cNvSpPr/>
            <p:nvPr/>
          </p:nvSpPr>
          <p:spPr>
            <a:xfrm>
              <a:off x="1463040" y="3730752"/>
              <a:ext cx="7406640" cy="512064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7" name="Text 44"/>
            <p:cNvSpPr/>
            <p:nvPr/>
          </p:nvSpPr>
          <p:spPr>
            <a:xfrm>
              <a:off x="1572768" y="3767328"/>
              <a:ext cx="7223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예측 G값과 RPM을 화면에 표시하고, 운영자가 확인 후 승인하면 설비로 제어 신호를 전송합니다.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반자동 모드로, 운영자의 최종 판단이 필요합니다.</a:t>
              </a:r>
              <a:endParaRPr lang="en-US" sz="100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274320" y="4297680"/>
              <a:ext cx="1188720" cy="512064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49" name="Text 46"/>
            <p:cNvSpPr/>
            <p:nvPr/>
          </p:nvSpPr>
          <p:spPr>
            <a:xfrm>
              <a:off x="274320" y="4297680"/>
              <a:ext cx="1188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(ai_opr = 2)</a:t>
              </a:r>
              <a:endParaRPr lang="en-US" sz="10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1463040" y="4297680"/>
              <a:ext cx="7406640" cy="5120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51" name="Text 48"/>
            <p:cNvSpPr/>
            <p:nvPr/>
          </p:nvSpPr>
          <p:spPr>
            <a:xfrm>
              <a:off x="1572768" y="4334256"/>
              <a:ext cx="7223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예측 G값 기반 RPM이 자동으로 설비에 전달됩니다. G값 상·하한 범위를 벗어나는 예측값은 자동으로 클리핑됩니다.</a:t>
              </a:r>
              <a:endParaRPr lang="en-US" sz="1000" dirty="0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183E8B-C9A0-4C76-977A-EFBE40DDDA5E}"/>
              </a:ext>
            </a:extLst>
          </p:cNvPr>
          <p:cNvGrpSpPr/>
          <p:nvPr/>
        </p:nvGrpSpPr>
        <p:grpSpPr>
          <a:xfrm>
            <a:off x="274320" y="4636008"/>
            <a:ext cx="8595360" cy="347472"/>
            <a:chOff x="274320" y="4919472"/>
            <a:chExt cx="8595360" cy="347472"/>
          </a:xfrm>
        </p:grpSpPr>
        <p:sp>
          <p:nvSpPr>
            <p:cNvPr id="52" name="Shape 49"/>
            <p:cNvSpPr/>
            <p:nvPr/>
          </p:nvSpPr>
          <p:spPr>
            <a:xfrm>
              <a:off x="274320" y="4919472"/>
              <a:ext cx="8595360" cy="34747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3" name="Text 50"/>
            <p:cNvSpPr/>
            <p:nvPr/>
          </p:nvSpPr>
          <p:spPr>
            <a:xfrm>
              <a:off x="411480" y="4937760"/>
              <a:ext cx="83210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#1/#2 상·하한은 연필 아이콘 클릭 후 수정 가능 (입력 범위 0~100 S⁻¹). 저장 시 TB_AI_D_INIT의 d_g_step1/2_max/min이 업데이트되며, 이후 AI가 산출하는 모든 G값 예측에 즉시 </a:t>
              </a:r>
              <a:r>
                <a:rPr lang="en-US" sz="800" dirty="0" err="1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반영됩니다</a:t>
              </a: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공정 — 기본 정보 및 연관 DB 테이블 (ai_g.py)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574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(G 공정)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전차염(PRE) / 후차염(POST) 분리 운영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14600" y="868680"/>
            <a:ext cx="20574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8775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 대상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8775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전차염: 혼화지 잔류염소 예측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후차염: 정수지 유입 잔류염소 예측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20574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2803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(time.sleep(60))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868680"/>
            <a:ext cx="2057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995160" y="868680"/>
            <a:ext cx="20574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068312" y="8686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 종류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68312" y="1252728"/>
            <a:ext cx="1911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딥러닝 모델 2개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(Keras/TensorFlow — 약품·혼화와 다름)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67712"/>
            <a:ext cx="859536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26771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 DB 테이블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2578608"/>
            <a:ext cx="8595360" cy="256032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0040" y="25786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31720" y="2578608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9560" y="25786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85953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TB_G_RT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283464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태그 데이터 수집 (전/후차염 공용, 1분 단위 적재)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09560" y="2834640"/>
            <a:ext cx="868680" cy="2514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909560" y="283464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086100"/>
            <a:ext cx="8595360" cy="25146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0040" y="308610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TB_AI_PRE_G_RT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31720" y="308610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 AI 예측 결과 저장 — IN_VAL / OUT_VAL JSON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09560" y="3086100"/>
            <a:ext cx="868680" cy="2514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909560" y="308610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337560"/>
            <a:ext cx="85953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20040" y="333756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TB_AI_POST_G_RT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31720" y="333756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 AI 예측 결과 저장 — IN_VAL / OUT_VAL JSON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909560" y="3337560"/>
            <a:ext cx="868680" cy="2514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09560" y="333756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589020"/>
            <a:ext cx="8595360" cy="25146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20040" y="358902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TB_AI_PRE_G_INIT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31720" y="358902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 설정값 저장 (운전모드, 상·하한, 보정주기 등)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09560" y="3589020"/>
            <a:ext cx="868680" cy="2514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909560" y="358902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3840480"/>
            <a:ext cx="85953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320040" y="384048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TB_AI_POST_G_INIT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331720" y="384048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 설정값 저장 (운전모드, 상·하한, 보정주기 등)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909560" y="3840480"/>
            <a:ext cx="868680" cy="2514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909560" y="384048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091940"/>
            <a:ext cx="8595360" cy="25146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20040" y="409194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TB_AI_PRE_G_CTR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331720" y="409194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 제어 명령 저장 (Kafka 전송 전 적재)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909560" y="4091940"/>
            <a:ext cx="868680" cy="2514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7909560" y="409194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4343400"/>
            <a:ext cx="85953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20040" y="434340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TB_AI_POST_G_CTR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331720" y="434340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 제어 명령 저장 (Kafka 전송 전 적재)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909560" y="4343400"/>
            <a:ext cx="868680" cy="2514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7909560" y="434340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4594860"/>
            <a:ext cx="8595360" cy="25146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320040" y="459486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TB_AI_PRE_G_ALM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331720" y="459486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 알람 이력 저장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09560" y="4594860"/>
            <a:ext cx="868680" cy="2514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909560" y="459486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전차염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4846320"/>
            <a:ext cx="859536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20040" y="4846320"/>
            <a:ext cx="19659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TB_AI_POST_G_ALM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331720" y="4846320"/>
            <a:ext cx="553212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 알람 이력 저장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909560" y="4846320"/>
            <a:ext cx="868680" cy="2514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909560" y="4846320"/>
            <a:ext cx="8686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후차염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공정 — 입력 태그 목록 (TB_G_RT에서 수집)</a:t>
            </a:r>
            <a:endParaRPr lang="en-US" sz="2000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0798DB73-C458-0198-027F-BD96D7A86F76}"/>
              </a:ext>
            </a:extLst>
          </p:cNvPr>
          <p:cNvGrpSpPr/>
          <p:nvPr/>
        </p:nvGrpSpPr>
        <p:grpSpPr>
          <a:xfrm>
            <a:off x="274320" y="868680"/>
            <a:ext cx="8660130" cy="4183380"/>
            <a:chOff x="274320" y="868680"/>
            <a:chExt cx="8595360" cy="5129784"/>
          </a:xfrm>
        </p:grpSpPr>
        <p:sp>
          <p:nvSpPr>
            <p:cNvPr id="4" name="Shape 2"/>
            <p:cNvSpPr/>
            <p:nvPr/>
          </p:nvSpPr>
          <p:spPr>
            <a:xfrm>
              <a:off x="274320" y="868680"/>
              <a:ext cx="8595360" cy="27432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86868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 (PRE) 입력 태그</a:t>
              </a:r>
              <a:endParaRPr lang="en-US" sz="10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1143000"/>
              <a:ext cx="8595360" cy="237744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143000"/>
              <a:ext cx="2148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태그번호</a:t>
              </a:r>
              <a:endParaRPr lang="en-US" sz="7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514600" y="1143000"/>
              <a:ext cx="4526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DP (공식 명칭)</a:t>
              </a:r>
              <a:endParaRPr lang="en-US" sz="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086600" y="1143000"/>
              <a:ext cx="17373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역할</a:t>
              </a:r>
              <a:endParaRPr lang="en-US" sz="7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74320" y="1380744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1380744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771-358-TEI-6028</a:t>
              </a:r>
              <a:endParaRPr lang="en-US" sz="7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514600" y="1380744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금산광역(정) 원수 온도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086600" y="1380744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sz="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74320" y="1613916"/>
              <a:ext cx="8595360" cy="2331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5" name="Text 13"/>
            <p:cNvSpPr/>
            <p:nvPr/>
          </p:nvSpPr>
          <p:spPr>
            <a:xfrm>
              <a:off x="320040" y="1613916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771-358-TBI-6001</a:t>
              </a:r>
              <a:endParaRPr lang="en-US" sz="7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14600" y="1613916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탁도</a:t>
              </a:r>
              <a:endParaRPr lang="en-US" sz="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086600" y="1613916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8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8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8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1847088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17"/>
            <p:cNvSpPr/>
            <p:nvPr/>
          </p:nvSpPr>
          <p:spPr>
            <a:xfrm>
              <a:off x="320040" y="1847088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771-358-PHI-6003</a:t>
              </a:r>
              <a:endParaRPr lang="en-US" sz="7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514600" y="1847088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pH</a:t>
              </a:r>
              <a:endParaRPr lang="en-US" sz="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086600" y="1847088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sz="7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2080260"/>
              <a:ext cx="8595360" cy="2331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20040" y="2080260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771-358-CUI-6004</a:t>
              </a:r>
              <a:endParaRPr lang="en-US" sz="7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514600" y="2080260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전기전도도</a:t>
              </a:r>
              <a:endParaRPr lang="en-US" sz="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086600" y="2080260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sz="7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74320" y="2313432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Text 25"/>
            <p:cNvSpPr/>
            <p:nvPr/>
          </p:nvSpPr>
          <p:spPr>
            <a:xfrm>
              <a:off x="320040" y="2313432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771-358-ALI-6001</a:t>
              </a:r>
              <a:endParaRPr lang="en-US" sz="7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514600" y="2313432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금산(정) 원수 알카리도</a:t>
              </a:r>
              <a:endParaRPr lang="en-US" sz="8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086600" y="2313432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74320" y="2546604"/>
              <a:ext cx="8595360" cy="2331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1" name="Text 29"/>
            <p:cNvSpPr/>
            <p:nvPr/>
          </p:nvSpPr>
          <p:spPr>
            <a:xfrm>
              <a:off x="320040" y="2546604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771-358-MNI-3001</a:t>
              </a:r>
              <a:endParaRPr lang="en-US" sz="7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514600" y="2546604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취수 망간</a:t>
              </a:r>
              <a:endParaRPr lang="en-US" sz="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086600" y="2546604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74320" y="2779776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Text 33"/>
            <p:cNvSpPr/>
            <p:nvPr/>
          </p:nvSpPr>
          <p:spPr>
            <a:xfrm>
              <a:off x="320040" y="2779776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771-358-CLI-6001</a:t>
              </a:r>
              <a:endParaRPr lang="en-US" sz="7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514600" y="2779776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혼화지 잔류염소</a:t>
              </a:r>
              <a:endParaRPr lang="en-US" sz="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086600" y="2779776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 잔류염소 비교 기준</a:t>
              </a: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7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74320" y="3012948"/>
              <a:ext cx="8595360" cy="2331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9" name="Text 37"/>
            <p:cNvSpPr/>
            <p:nvPr/>
          </p:nvSpPr>
          <p:spPr>
            <a:xfrm>
              <a:off x="320040" y="3012948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771-358-CIC-5113</a:t>
              </a:r>
              <a:endParaRPr lang="en-US" sz="7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2514600" y="3012948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 목표주입률</a:t>
              </a:r>
              <a:endParaRPr lang="en-US" sz="8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086600" y="3012948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 주입률 기준 + 제어 태그</a:t>
              </a:r>
              <a:endParaRPr lang="en-US" sz="7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74320" y="3246120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3" name="Text 41"/>
            <p:cNvSpPr/>
            <p:nvPr/>
          </p:nvSpPr>
          <p:spPr>
            <a:xfrm>
              <a:off x="320040" y="3246120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771-358-FRI-2011</a:t>
              </a:r>
              <a:endParaRPr lang="en-US" sz="7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2514600" y="3246120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공업용수 원수유입유량</a:t>
              </a:r>
              <a:endParaRPr lang="en-US" sz="8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7086600" y="3246120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IN_VAL </a:t>
              </a:r>
              <a:r>
                <a:rPr 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저장용</a:t>
              </a:r>
              <a:endParaRPr lang="en-US" sz="7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74320" y="3479292"/>
              <a:ext cx="8595360" cy="2331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7" name="Text 45"/>
            <p:cNvSpPr/>
            <p:nvPr/>
          </p:nvSpPr>
          <p:spPr>
            <a:xfrm>
              <a:off x="320040" y="3479292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771-358-CLI-6011</a:t>
              </a:r>
              <a:endParaRPr lang="en-US" sz="7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2514600" y="3479292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잔류염소</a:t>
              </a:r>
              <a:endParaRPr lang="en-US" sz="8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7086600" y="3479292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염소 증발량 계산에 사용</a:t>
              </a:r>
              <a:endParaRPr lang="en-US" sz="7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274320" y="3712464"/>
              <a:ext cx="8595360" cy="2331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1" name="Text 49"/>
            <p:cNvSpPr/>
            <p:nvPr/>
          </p:nvSpPr>
          <p:spPr>
            <a:xfrm>
              <a:off x="320040" y="3712464"/>
              <a:ext cx="214884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771-358-CIB-5112 / 5122</a:t>
              </a:r>
              <a:endParaRPr lang="en-US" sz="7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2514600" y="3712464"/>
              <a:ext cx="4526280" cy="2331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 펌프1/2 RUN</a:t>
              </a:r>
              <a:endParaRPr lang="en-US" sz="8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7086600" y="3712464"/>
              <a:ext cx="1737360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펌프 가동 여부</a:t>
              </a:r>
              <a:endParaRPr lang="en-US" sz="7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74320" y="3968496"/>
              <a:ext cx="8595360" cy="27432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5" name="Text 53"/>
            <p:cNvSpPr/>
            <p:nvPr/>
          </p:nvSpPr>
          <p:spPr>
            <a:xfrm>
              <a:off x="365760" y="3968496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 (POST) 입력 태그</a:t>
              </a:r>
              <a:endParaRPr lang="en-US" sz="10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74320" y="4242816"/>
              <a:ext cx="8595360" cy="2194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Text 55"/>
            <p:cNvSpPr/>
            <p:nvPr/>
          </p:nvSpPr>
          <p:spPr>
            <a:xfrm>
              <a:off x="320040" y="4242816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771-358-TBI-6011</a:t>
              </a:r>
              <a:endParaRPr lang="en-US" sz="7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2514600" y="4242816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막여과 탁도</a:t>
              </a:r>
              <a:endParaRPr lang="en-US" sz="8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7086600" y="4242816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274320" y="4462272"/>
              <a:ext cx="8595360" cy="21945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1" name="Text 59"/>
            <p:cNvSpPr/>
            <p:nvPr/>
          </p:nvSpPr>
          <p:spPr>
            <a:xfrm>
              <a:off x="320040" y="4462272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771-358-CLI-4011</a:t>
              </a:r>
              <a:endParaRPr lang="en-US" sz="700" dirty="0"/>
            </a:p>
          </p:txBody>
        </p:sp>
        <p:sp>
          <p:nvSpPr>
            <p:cNvPr id="62" name="Text 60"/>
            <p:cNvSpPr/>
            <p:nvPr/>
          </p:nvSpPr>
          <p:spPr>
            <a:xfrm>
              <a:off x="2514600" y="4462272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잔류염소</a:t>
              </a:r>
              <a:endParaRPr lang="en-US" sz="8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7086600" y="4462272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 잔류염소 비교 기준</a:t>
              </a:r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7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74320" y="4681728"/>
              <a:ext cx="8595360" cy="2194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Text 63"/>
            <p:cNvSpPr/>
            <p:nvPr/>
          </p:nvSpPr>
          <p:spPr>
            <a:xfrm>
              <a:off x="320040" y="4681728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771-358-CII-5213</a:t>
              </a:r>
              <a:endParaRPr lang="en-US" sz="7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2514600" y="4681728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 현재주입률</a:t>
              </a:r>
              <a:endParaRPr lang="en-US" sz="8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7086600" y="4681728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읽기용</a:t>
              </a:r>
              <a:endParaRPr lang="en-US" sz="7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274320" y="4901184"/>
              <a:ext cx="8595360" cy="21945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9" name="Text 67"/>
            <p:cNvSpPr/>
            <p:nvPr/>
          </p:nvSpPr>
          <p:spPr>
            <a:xfrm>
              <a:off x="320040" y="4901184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771-358-CIC-5213</a:t>
              </a:r>
              <a:endParaRPr lang="en-US" sz="7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2514600" y="4901184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 목표주입률</a:t>
              </a:r>
              <a:endParaRPr lang="en-US" sz="8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7086600" y="4901184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제어 태그</a:t>
              </a:r>
              <a:endParaRPr lang="en-US" sz="7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274320" y="5120640"/>
              <a:ext cx="8595360" cy="2194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3" name="Text 71"/>
            <p:cNvSpPr/>
            <p:nvPr/>
          </p:nvSpPr>
          <p:spPr>
            <a:xfrm>
              <a:off x="320040" y="5120640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771-358-CLI-6022</a:t>
              </a:r>
              <a:endParaRPr lang="en-US" sz="7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2514600" y="5120640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여과수 통합 잔류염소</a:t>
              </a:r>
              <a:endParaRPr lang="en-US" sz="8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7086600" y="5120640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274320" y="5340096"/>
              <a:ext cx="8595360" cy="21945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75"/>
            <p:cNvSpPr/>
            <p:nvPr/>
          </p:nvSpPr>
          <p:spPr>
            <a:xfrm>
              <a:off x="320040" y="5340096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771-358-PHI-4021</a:t>
              </a:r>
              <a:endParaRPr lang="en-US" sz="700" dirty="0"/>
            </a:p>
          </p:txBody>
        </p:sp>
        <p:sp>
          <p:nvSpPr>
            <p:cNvPr id="78" name="Text 76"/>
            <p:cNvSpPr/>
            <p:nvPr/>
          </p:nvSpPr>
          <p:spPr>
            <a:xfrm>
              <a:off x="2514600" y="5340096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 pH</a:t>
              </a:r>
              <a:endParaRPr lang="en-US" sz="800" dirty="0"/>
            </a:p>
          </p:txBody>
        </p:sp>
        <p:sp>
          <p:nvSpPr>
            <p:cNvPr id="79" name="Text 77"/>
            <p:cNvSpPr/>
            <p:nvPr/>
          </p:nvSpPr>
          <p:spPr>
            <a:xfrm>
              <a:off x="7086600" y="5340096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274320" y="5559552"/>
              <a:ext cx="8595360" cy="2194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1" name="Text 79"/>
            <p:cNvSpPr/>
            <p:nvPr/>
          </p:nvSpPr>
          <p:spPr>
            <a:xfrm>
              <a:off x="320040" y="5559552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771-358-FRI-4011</a:t>
              </a:r>
              <a:endParaRPr lang="en-US" sz="700" dirty="0"/>
            </a:p>
          </p:txBody>
        </p:sp>
        <p:sp>
          <p:nvSpPr>
            <p:cNvPr id="82" name="Text 80"/>
            <p:cNvSpPr/>
            <p:nvPr/>
          </p:nvSpPr>
          <p:spPr>
            <a:xfrm>
              <a:off x="2514600" y="5559552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유입유량</a:t>
              </a:r>
              <a:endParaRPr lang="en-US" sz="8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7086600" y="5559552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입력값</a:t>
              </a:r>
              <a:endParaRPr lang="en-US" altLang="ko-KR" sz="7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274320" y="5779008"/>
              <a:ext cx="8595360" cy="21945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Text 83"/>
            <p:cNvSpPr/>
            <p:nvPr/>
          </p:nvSpPr>
          <p:spPr>
            <a:xfrm>
              <a:off x="320040" y="5779008"/>
              <a:ext cx="214884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771-358-PMB-6014 / 6016</a:t>
              </a:r>
              <a:endParaRPr lang="en-US" sz="7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2514600" y="5779008"/>
              <a:ext cx="4526280" cy="21945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역세펌프A/B RUN</a:t>
              </a:r>
              <a:endParaRPr lang="en-US" sz="8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7086600" y="5779008"/>
              <a:ext cx="1737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역세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구간 </a:t>
              </a:r>
              <a:r>
                <a:rPr lang="ko-KR" altLang="en-US" sz="700" b="1" dirty="0" err="1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이상값</a:t>
              </a:r>
              <a:r>
                <a:rPr lang="ko-KR" alt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제거용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공정 — INIT 설정값 및 알람 ID</a:t>
            </a:r>
            <a:endParaRPr lang="en-US" sz="20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8F4ADCD6-A5A2-9F28-A54B-5648803F068B}"/>
              </a:ext>
            </a:extLst>
          </p:cNvPr>
          <p:cNvGrpSpPr/>
          <p:nvPr/>
        </p:nvGrpSpPr>
        <p:grpSpPr>
          <a:xfrm>
            <a:off x="274320" y="868680"/>
            <a:ext cx="8595360" cy="4183380"/>
            <a:chOff x="274320" y="868680"/>
            <a:chExt cx="8595360" cy="4453128"/>
          </a:xfrm>
        </p:grpSpPr>
        <p:sp>
          <p:nvSpPr>
            <p:cNvPr id="4" name="Shape 2"/>
            <p:cNvSpPr/>
            <p:nvPr/>
          </p:nvSpPr>
          <p:spPr>
            <a:xfrm>
              <a:off x="274320" y="868680"/>
              <a:ext cx="8595360" cy="27432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86868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INIT 설정값 (전차염 기준 — 후차염도 동일 구조, 테이블명만 POST로 변경)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4320" y="1143000"/>
              <a:ext cx="8595360" cy="256032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143000"/>
              <a:ext cx="1783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ITM 키</a:t>
              </a:r>
              <a:endParaRPr lang="en-US" sz="7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148840" y="1143000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설명</a:t>
              </a:r>
              <a:endParaRPr lang="en-US" sz="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35240" y="1143000"/>
              <a:ext cx="12344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연산 영향</a:t>
              </a:r>
              <a:endParaRPr lang="en-US" sz="7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74320" y="1399032"/>
              <a:ext cx="8595360" cy="2880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1399032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g_pre_operation_mode</a:t>
              </a:r>
              <a:endParaRPr lang="en-US" sz="7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148840" y="1399032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운전모드 (0=분석 / 1=추천 / 2=AI자동)</a:t>
              </a:r>
              <a:endParaRPr lang="en-US" sz="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7635240" y="1399032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제어 여부 결정</a:t>
              </a:r>
              <a:endParaRPr lang="en-US" sz="7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274320" y="1687068"/>
              <a:ext cx="8595360" cy="28803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5" name="Text 13"/>
            <p:cNvSpPr/>
            <p:nvPr/>
          </p:nvSpPr>
          <p:spPr>
            <a:xfrm>
              <a:off x="320040" y="1687068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g_pre_set_max / min</a:t>
              </a:r>
              <a:endParaRPr lang="en-US" sz="7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148840" y="1687068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상·하한 — AI 예측 주입률 클리핑에 사용</a:t>
              </a:r>
              <a:endParaRPr lang="en-US" sz="8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635240" y="1687068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출력 클리핑</a:t>
              </a:r>
              <a:endParaRPr lang="en-US" sz="7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1975104"/>
              <a:ext cx="8595360" cy="2880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17"/>
            <p:cNvSpPr/>
            <p:nvPr/>
          </p:nvSpPr>
          <p:spPr>
            <a:xfrm>
              <a:off x="320040" y="1975104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g_pre_chg_limit_for_onetime</a:t>
              </a:r>
              <a:endParaRPr lang="en-US" sz="7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148840" y="1975104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1회 변경 가능 최대 주입률 변화량</a:t>
              </a:r>
              <a:endParaRPr lang="en-US" sz="8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635240" y="1975104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변화량 제한</a:t>
              </a:r>
              <a:endParaRPr lang="en-US" sz="7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2263140"/>
              <a:ext cx="8595360" cy="28803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Text 21"/>
            <p:cNvSpPr/>
            <p:nvPr/>
          </p:nvSpPr>
          <p:spPr>
            <a:xfrm>
              <a:off x="320040" y="2263140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g_pre_calib_cycle</a:t>
              </a:r>
              <a:endParaRPr lang="en-US" sz="7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148840" y="2263140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보정 주기 (분) — 이 주기마다 주입률 업데이트</a:t>
              </a:r>
              <a:endParaRPr lang="en-US" sz="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635240" y="2263140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업데이트 주기</a:t>
              </a:r>
              <a:endParaRPr lang="en-US" sz="7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274320" y="2551176"/>
              <a:ext cx="8595360" cy="2880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Text 25"/>
            <p:cNvSpPr/>
            <p:nvPr/>
          </p:nvSpPr>
          <p:spPr>
            <a:xfrm>
              <a:off x="320040" y="2551176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g_d_obj_residual_cl</a:t>
              </a:r>
              <a:endParaRPr lang="en-US" sz="7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148840" y="2551176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 혼화지 잔류염소 — 이 값과의 편차로 주입률 결정</a:t>
              </a:r>
              <a:endParaRPr lang="en-US" sz="8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635240" y="2551176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목표값 설정</a:t>
              </a:r>
              <a:endParaRPr lang="en-US" sz="7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74320" y="2839212"/>
              <a:ext cx="8595360" cy="288036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1" name="Text 29"/>
            <p:cNvSpPr/>
            <p:nvPr/>
          </p:nvSpPr>
          <p:spPr>
            <a:xfrm>
              <a:off x="320040" y="2839212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g_d_residual_cl_holding</a:t>
              </a:r>
              <a:endParaRPr lang="en-US" sz="7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148840" y="2839212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잔류염소 홀딩 허용 편차 — 편차가 이 값 이내면 주입률 유지</a:t>
              </a:r>
              <a:endParaRPr lang="en-US" sz="8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7635240" y="2839212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홀딩 제어</a:t>
              </a:r>
              <a:endParaRPr lang="en-US" sz="7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74320" y="3127248"/>
              <a:ext cx="8595360" cy="28803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Text 33"/>
            <p:cNvSpPr/>
            <p:nvPr/>
          </p:nvSpPr>
          <p:spPr>
            <a:xfrm>
              <a:off x="320040" y="3127248"/>
              <a:ext cx="17830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g_pre_chol_rate_holding_time</a:t>
              </a:r>
              <a:endParaRPr lang="en-US" sz="7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2148840" y="3127248"/>
              <a:ext cx="5440680" cy="28803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변경 후 잔류염소 미변동 대기 시간 (기본 80분)</a:t>
              </a:r>
              <a:endParaRPr lang="en-US" sz="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635240" y="3127248"/>
              <a:ext cx="1234440" cy="2880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대기 시간</a:t>
              </a:r>
              <a:endParaRPr lang="en-US" sz="7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74320" y="3447288"/>
              <a:ext cx="8595360" cy="274320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9" name="Text 37"/>
            <p:cNvSpPr/>
            <p:nvPr/>
          </p:nvSpPr>
          <p:spPr>
            <a:xfrm>
              <a:off x="365760" y="3447288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알람 ID — 소독 공정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274320" y="3813048"/>
              <a:ext cx="8595360" cy="1783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1" name="Shape 39"/>
            <p:cNvSpPr/>
            <p:nvPr/>
          </p:nvSpPr>
          <p:spPr>
            <a:xfrm>
              <a:off x="274320" y="3813048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2" name="Text 40"/>
            <p:cNvSpPr/>
            <p:nvPr/>
          </p:nvSpPr>
          <p:spPr>
            <a:xfrm>
              <a:off x="274320" y="3813048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137012</a:t>
              </a:r>
              <a:endParaRPr lang="en-US" sz="8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1051560" y="3813048"/>
              <a:ext cx="777240" cy="178308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4" name="Text 42"/>
            <p:cNvSpPr/>
            <p:nvPr/>
          </p:nvSpPr>
          <p:spPr>
            <a:xfrm>
              <a:off x="1051560" y="3813048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</a:t>
              </a:r>
              <a:endParaRPr lang="en-US" sz="7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1874520" y="3813048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분석 이상 — 전차염 코드 실행 중 예외 발생 시</a:t>
              </a:r>
              <a:endParaRPr lang="en-US" sz="8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274320" y="3991356"/>
              <a:ext cx="8595360" cy="178308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7" name="Shape 45"/>
            <p:cNvSpPr/>
            <p:nvPr/>
          </p:nvSpPr>
          <p:spPr>
            <a:xfrm>
              <a:off x="274320" y="3991356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8" name="Text 46"/>
            <p:cNvSpPr/>
            <p:nvPr/>
          </p:nvSpPr>
          <p:spPr>
            <a:xfrm>
              <a:off x="274320" y="3991356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137014</a:t>
              </a:r>
              <a:endParaRPr lang="en-US" sz="8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1051560" y="3991356"/>
              <a:ext cx="777240" cy="178308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0" name="Text 48"/>
            <p:cNvSpPr/>
            <p:nvPr/>
          </p:nvSpPr>
          <p:spPr>
            <a:xfrm>
              <a:off x="1051560" y="3991356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</a:t>
              </a:r>
              <a:endParaRPr lang="en-US" sz="7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1874520" y="3991356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제어 알람 — 전차염 주입률 제어 발생 시 (반자동/자동)</a:t>
              </a:r>
              <a:endParaRPr lang="en-US" sz="8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74320" y="4169664"/>
              <a:ext cx="8595360" cy="1783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3" name="Shape 51"/>
            <p:cNvSpPr/>
            <p:nvPr/>
          </p:nvSpPr>
          <p:spPr>
            <a:xfrm>
              <a:off x="274320" y="4169664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Text 52"/>
            <p:cNvSpPr/>
            <p:nvPr/>
          </p:nvSpPr>
          <p:spPr>
            <a:xfrm>
              <a:off x="274320" y="4169664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137015</a:t>
              </a:r>
              <a:endParaRPr lang="en-US" sz="8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1051560" y="4169664"/>
              <a:ext cx="777240" cy="178308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Text 54"/>
            <p:cNvSpPr/>
            <p:nvPr/>
          </p:nvSpPr>
          <p:spPr>
            <a:xfrm>
              <a:off x="1051560" y="4169664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전차염</a:t>
              </a:r>
              <a:endParaRPr lang="en-US" sz="7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874520" y="4169664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임계치 초과 알람 — 예측 주입률이 상·하한 범위 초과 시</a:t>
              </a:r>
              <a:endParaRPr lang="en-US" sz="8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274320" y="4347972"/>
              <a:ext cx="8595360" cy="178308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Shape 57"/>
            <p:cNvSpPr/>
            <p:nvPr/>
          </p:nvSpPr>
          <p:spPr>
            <a:xfrm>
              <a:off x="274320" y="4347972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0" name="Text 58"/>
            <p:cNvSpPr/>
            <p:nvPr/>
          </p:nvSpPr>
          <p:spPr>
            <a:xfrm>
              <a:off x="274320" y="4347972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137032</a:t>
              </a:r>
              <a:endParaRPr lang="en-US" sz="8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1051560" y="4347972"/>
              <a:ext cx="777240" cy="178308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60"/>
            <p:cNvSpPr/>
            <p:nvPr/>
          </p:nvSpPr>
          <p:spPr>
            <a:xfrm>
              <a:off x="1051560" y="4347972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</a:t>
              </a:r>
              <a:endParaRPr lang="en-US" sz="7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1874520" y="4347972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분석 이상 — 후차염 코드 실행 중 예외 발생 시</a:t>
              </a:r>
              <a:endParaRPr lang="en-US" sz="8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74320" y="4526280"/>
              <a:ext cx="8595360" cy="1783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Shape 63"/>
            <p:cNvSpPr/>
            <p:nvPr/>
          </p:nvSpPr>
          <p:spPr>
            <a:xfrm>
              <a:off x="274320" y="4526280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Text 64"/>
            <p:cNvSpPr/>
            <p:nvPr/>
          </p:nvSpPr>
          <p:spPr>
            <a:xfrm>
              <a:off x="274320" y="4526280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137034</a:t>
              </a:r>
              <a:endParaRPr lang="en-US" sz="80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1051560" y="4526280"/>
              <a:ext cx="777240" cy="178308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8" name="Text 66"/>
            <p:cNvSpPr/>
            <p:nvPr/>
          </p:nvSpPr>
          <p:spPr>
            <a:xfrm>
              <a:off x="1051560" y="4526280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</a:t>
              </a:r>
              <a:endParaRPr lang="en-US" sz="7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1874520" y="4526280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제어 알람 — 후차염 주입률 제어 발생 시 (반자동/자동)</a:t>
              </a:r>
              <a:endParaRPr lang="en-US" sz="8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274320" y="4704588"/>
              <a:ext cx="8595360" cy="178308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1" name="Shape 69"/>
            <p:cNvSpPr/>
            <p:nvPr/>
          </p:nvSpPr>
          <p:spPr>
            <a:xfrm>
              <a:off x="274320" y="4704588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2" name="Text 70"/>
            <p:cNvSpPr/>
            <p:nvPr/>
          </p:nvSpPr>
          <p:spPr>
            <a:xfrm>
              <a:off x="274320" y="4704588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137035</a:t>
              </a:r>
              <a:endParaRPr lang="en-US" sz="8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1051560" y="4704588"/>
              <a:ext cx="777240" cy="178308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Text 72"/>
            <p:cNvSpPr/>
            <p:nvPr/>
          </p:nvSpPr>
          <p:spPr>
            <a:xfrm>
              <a:off x="1051560" y="4704588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</a:t>
              </a:r>
              <a:endParaRPr lang="en-US" sz="700" dirty="0"/>
            </a:p>
          </p:txBody>
        </p:sp>
        <p:sp>
          <p:nvSpPr>
            <p:cNvPr id="75" name="Text 73"/>
            <p:cNvSpPr/>
            <p:nvPr/>
          </p:nvSpPr>
          <p:spPr>
            <a:xfrm>
              <a:off x="1874520" y="4704588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유출 잔류염소 초과 알람</a:t>
              </a:r>
              <a:endParaRPr lang="en-US" sz="8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274320" y="4882896"/>
              <a:ext cx="8595360" cy="1783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Shape 75"/>
            <p:cNvSpPr/>
            <p:nvPr/>
          </p:nvSpPr>
          <p:spPr>
            <a:xfrm>
              <a:off x="274320" y="4882896"/>
              <a:ext cx="777240" cy="1783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8" name="Text 76"/>
            <p:cNvSpPr/>
            <p:nvPr/>
          </p:nvSpPr>
          <p:spPr>
            <a:xfrm>
              <a:off x="274320" y="4882896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137036</a:t>
              </a:r>
              <a:endParaRPr lang="en-US" sz="800" dirty="0"/>
            </a:p>
          </p:txBody>
        </p:sp>
        <p:sp>
          <p:nvSpPr>
            <p:cNvPr id="79" name="Shape 77"/>
            <p:cNvSpPr/>
            <p:nvPr/>
          </p:nvSpPr>
          <p:spPr>
            <a:xfrm>
              <a:off x="1051560" y="4882896"/>
              <a:ext cx="777240" cy="178308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0" name="Text 78"/>
            <p:cNvSpPr/>
            <p:nvPr/>
          </p:nvSpPr>
          <p:spPr>
            <a:xfrm>
              <a:off x="1051560" y="4882896"/>
              <a:ext cx="7772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</a:t>
              </a:r>
              <a:endParaRPr lang="en-US" sz="700" dirty="0"/>
            </a:p>
          </p:txBody>
        </p:sp>
        <p:sp>
          <p:nvSpPr>
            <p:cNvPr id="81" name="Text 79"/>
            <p:cNvSpPr/>
            <p:nvPr/>
          </p:nvSpPr>
          <p:spPr>
            <a:xfrm>
              <a:off x="1874520" y="4882896"/>
              <a:ext cx="6949440" cy="17830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임계치 초과 알람 — 예측 주입률이 상·하한 범위 초과 시</a:t>
              </a:r>
              <a:endParaRPr lang="en-US" sz="8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274320" y="5065776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Text 81"/>
            <p:cNvSpPr/>
            <p:nvPr/>
          </p:nvSpPr>
          <p:spPr>
            <a:xfrm>
              <a:off x="411480" y="5065776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소독 공정은 약품·혼화응집과 달리 GRU 딥러닝 모델(model_pre.h5 / model_post.h5)을 사용합니다. 전차염·후차염 각각 별도의 모델 파일과 Min-Max 스케일링 파일(min_max_scale_pre/post.csv)이 적용됩니다.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좌측 설비 현황 및 하단 설정값</a:t>
            </a:r>
            <a:endParaRPr lang="en-US" sz="2000" dirty="0"/>
          </a:p>
        </p:txBody>
      </p:sp>
      <p:pic>
        <p:nvPicPr>
          <p:cNvPr id="4" name="Image 0" descr="/home/claude/pr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423160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423160" cy="2980944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926080" y="868680"/>
            <a:ext cx="59436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Text 4"/>
          <p:cNvSpPr/>
          <p:nvPr/>
        </p:nvSpPr>
        <p:spPr>
          <a:xfrm>
            <a:off x="3017520" y="868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1호기 / 2호기 — 전차염 펌프 운전 상태 표시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26080" y="114300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9" name="Text 6"/>
          <p:cNvSpPr/>
          <p:nvPr/>
        </p:nvSpPr>
        <p:spPr>
          <a:xfrm>
            <a:off x="3017520" y="116128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1호기 (CIB-5112) / 2호기 (CIB-5122):</a:t>
            </a: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전차염 펌프 RUN 상태를 시각적으로 표시합니다.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펌프 가동 여부는 OUT_VAL의 G_PUMP_1_RUN / G_PUMP_2_RUN 필드에 저장되며, AI 예측 시 결측 처리에도 활용됩니다.</a:t>
            </a:r>
            <a:endParaRPr lang="en-US" sz="8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3CCB39F-FED6-1FE5-D28B-490821FEE37E}"/>
              </a:ext>
            </a:extLst>
          </p:cNvPr>
          <p:cNvGrpSpPr/>
          <p:nvPr/>
        </p:nvGrpSpPr>
        <p:grpSpPr>
          <a:xfrm>
            <a:off x="2926080" y="1700784"/>
            <a:ext cx="5943600" cy="2578608"/>
            <a:chOff x="2926080" y="1700784"/>
            <a:chExt cx="5943600" cy="2578608"/>
          </a:xfrm>
        </p:grpSpPr>
        <p:sp>
          <p:nvSpPr>
            <p:cNvPr id="10" name="Shape 7"/>
            <p:cNvSpPr/>
            <p:nvPr/>
          </p:nvSpPr>
          <p:spPr>
            <a:xfrm>
              <a:off x="2926080" y="1700784"/>
              <a:ext cx="5943600" cy="27432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8"/>
            <p:cNvSpPr/>
            <p:nvPr/>
          </p:nvSpPr>
          <p:spPr>
            <a:xfrm>
              <a:off x="3017520" y="1700784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하단 설정값 — TB_AI_PRE_G_INIT에서 읽어옴 (연필 아이콘으로 수정)</a:t>
              </a:r>
              <a:endParaRPr lang="en-US" sz="10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2926080" y="1975104"/>
              <a:ext cx="5943600" cy="256032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0"/>
            <p:cNvSpPr/>
            <p:nvPr/>
          </p:nvSpPr>
          <p:spPr>
            <a:xfrm>
              <a:off x="2971800" y="1975104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7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754880" y="1975104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ITM 키</a:t>
              </a:r>
              <a:endParaRPr lang="en-US" sz="7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217920" y="1975104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연산 영향</a:t>
              </a:r>
              <a:endParaRPr lang="en-US" sz="7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955280" y="1975104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현재값</a:t>
              </a:r>
              <a:endParaRPr lang="en-US" sz="7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2926080" y="2231136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8" name="Text 15"/>
            <p:cNvSpPr/>
            <p:nvPr/>
          </p:nvSpPr>
          <p:spPr>
            <a:xfrm>
              <a:off x="2971800" y="2231136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상한 (ppm)</a:t>
              </a:r>
              <a:endParaRPr lang="en-US" sz="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754880" y="2231136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g_pre_set_max</a:t>
              </a:r>
              <a:endParaRPr lang="en-US" sz="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217920" y="223113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출력 클리핑 (상한)</a:t>
              </a:r>
              <a:endParaRPr lang="en-US" sz="7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7955280" y="2231136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1.00</a:t>
              </a:r>
              <a:endParaRPr lang="en-US" sz="8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2926080" y="2487168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Text 20"/>
            <p:cNvSpPr/>
            <p:nvPr/>
          </p:nvSpPr>
          <p:spPr>
            <a:xfrm>
              <a:off x="2971800" y="2487168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하한 (ppm)</a:t>
              </a:r>
              <a:endParaRPr lang="en-US" sz="8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754880" y="248716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g_pre_set_min</a:t>
              </a:r>
              <a:endParaRPr lang="en-US" sz="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217920" y="248716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출력 클리핑 (하한)</a:t>
              </a:r>
              <a:endParaRPr lang="en-US" sz="7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7955280" y="2487168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1.30</a:t>
              </a:r>
              <a:endParaRPr lang="en-US" sz="8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2926080" y="2743200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8" name="Text 25"/>
            <p:cNvSpPr/>
            <p:nvPr/>
          </p:nvSpPr>
          <p:spPr>
            <a:xfrm>
              <a:off x="2971800" y="274320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1회 변경 주입률 (ppm)</a:t>
              </a:r>
              <a:endParaRPr lang="en-US" sz="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4754880" y="2743200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g_pre_chg_limit_for_onetime</a:t>
              </a:r>
              <a:endParaRPr lang="en-US" sz="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217920" y="2743200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1회 최대 변화량 제한</a:t>
              </a:r>
              <a:endParaRPr lang="en-US" sz="7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7955280" y="27432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0.05</a:t>
              </a:r>
              <a:endParaRPr lang="en-US" sz="8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2926080" y="2999232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3" name="Text 30"/>
            <p:cNvSpPr/>
            <p:nvPr/>
          </p:nvSpPr>
          <p:spPr>
            <a:xfrm>
              <a:off x="2971800" y="299923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혼화지 목표 잔류염소</a:t>
              </a:r>
              <a:endParaRPr lang="en-US" sz="8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4754880" y="2999232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g_d_obj_residual_cl</a:t>
              </a:r>
              <a:endParaRPr lang="en-US" sz="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6217920" y="2999232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산출 기준값</a:t>
              </a:r>
              <a:endParaRPr lang="en-US" sz="7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7955280" y="29992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0.45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2926080" y="3255264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8" name="Text 35"/>
            <p:cNvSpPr/>
            <p:nvPr/>
          </p:nvSpPr>
          <p:spPr>
            <a:xfrm>
              <a:off x="2971800" y="3255264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운전모드</a:t>
              </a:r>
              <a:endParaRPr lang="en-US" sz="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4754880" y="3255264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g_pre_operation_mode</a:t>
              </a:r>
              <a:endParaRPr lang="en-US" sz="6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6217920" y="3255264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0=분석/1=추천/2=자동</a:t>
              </a:r>
              <a:endParaRPr lang="en-US" sz="7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7955280" y="3255264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42" name="Shape 39"/>
            <p:cNvSpPr/>
            <p:nvPr/>
          </p:nvSpPr>
          <p:spPr>
            <a:xfrm>
              <a:off x="2926080" y="3511296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3" name="Text 40"/>
            <p:cNvSpPr/>
            <p:nvPr/>
          </p:nvSpPr>
          <p:spPr>
            <a:xfrm>
              <a:off x="2971800" y="3511296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보정 주기 (분)</a:t>
              </a:r>
              <a:endParaRPr lang="en-US" sz="8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4754880" y="3511296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g_pre_calib_cycle</a:t>
              </a:r>
              <a:endParaRPr lang="en-US" sz="6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6217920" y="351129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업데이트 주기</a:t>
              </a:r>
              <a:endParaRPr lang="en-US" sz="7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955280" y="3511296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2926080" y="3767328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8" name="Text 45"/>
            <p:cNvSpPr/>
            <p:nvPr/>
          </p:nvSpPr>
          <p:spPr>
            <a:xfrm>
              <a:off x="2971800" y="3767328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잔류염소 홀딩 허용 편차</a:t>
              </a:r>
              <a:endParaRPr lang="en-US" sz="8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4754880" y="3767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g_d_residual_cl_holding</a:t>
              </a:r>
              <a:endParaRPr lang="en-US" sz="6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6217920" y="376732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편차 이내면 주입률 유지</a:t>
              </a:r>
              <a:endParaRPr lang="en-US" sz="7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7955280" y="3767328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2926080" y="4023360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3" name="Text 50"/>
            <p:cNvSpPr/>
            <p:nvPr/>
          </p:nvSpPr>
          <p:spPr>
            <a:xfrm>
              <a:off x="2971800" y="402336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주입후 잔류염소 대기시간</a:t>
              </a:r>
              <a:endParaRPr lang="en-US" sz="8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4754880" y="4023360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g_pre_chol_rate_holding_time</a:t>
              </a:r>
              <a:endParaRPr lang="en-US" sz="6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6217920" y="4023360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80분, 변동 없으면 제어 보류</a:t>
              </a:r>
              <a:endParaRPr lang="en-US" sz="7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955280" y="402336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4A3B8C7-D6B9-C576-E867-F5D02C17EA41}"/>
              </a:ext>
            </a:extLst>
          </p:cNvPr>
          <p:cNvGrpSpPr/>
          <p:nvPr/>
        </p:nvGrpSpPr>
        <p:grpSpPr>
          <a:xfrm>
            <a:off x="274320" y="4315968"/>
            <a:ext cx="8595360" cy="512064"/>
            <a:chOff x="274320" y="4315968"/>
            <a:chExt cx="8595360" cy="822960"/>
          </a:xfrm>
        </p:grpSpPr>
        <p:sp>
          <p:nvSpPr>
            <p:cNvPr id="57" name="Shape 54"/>
            <p:cNvSpPr/>
            <p:nvPr/>
          </p:nvSpPr>
          <p:spPr>
            <a:xfrm>
              <a:off x="274320" y="4315968"/>
              <a:ext cx="8595360" cy="25603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Text 55"/>
            <p:cNvSpPr/>
            <p:nvPr/>
          </p:nvSpPr>
          <p:spPr>
            <a:xfrm>
              <a:off x="365760" y="4315968"/>
              <a:ext cx="8412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전차염 주입률 산출 흐름</a:t>
              </a:r>
              <a:endParaRPr lang="en-US" sz="1000" dirty="0"/>
            </a:p>
          </p:txBody>
        </p:sp>
        <p:sp>
          <p:nvSpPr>
            <p:cNvPr id="59" name="Shape 56"/>
            <p:cNvSpPr/>
            <p:nvPr/>
          </p:nvSpPr>
          <p:spPr>
            <a:xfrm>
              <a:off x="274320" y="4572000"/>
              <a:ext cx="859536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0" name="Text 57"/>
            <p:cNvSpPr/>
            <p:nvPr/>
          </p:nvSpPr>
          <p:spPr>
            <a:xfrm>
              <a:off x="411480" y="4590288"/>
              <a:ext cx="83210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GRU 모델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→ 혼화지 잔류염소 예측(ai_g_d_residual_cl)  </a:t>
              </a: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편차 계산: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g_d_obj_residual_cl - 현재 잔류염소 → 보정량 결정 (홀딩 편차 이내면 0)
</a:t>
              </a: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주입률 산출: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현재 주입률 + 보정량 → 상·하한 클리핑 → 보정주기 도달 시 + 80분 홀딩 확인 후 CTR 테이블 → Kafka → 설비 전송</a:t>
              </a:r>
              <a:endParaRPr lang="en-US" sz="8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5A662BD-9CEB-C820-E5EE-266E74B74721}"/>
              </a:ext>
            </a:extLst>
          </p:cNvPr>
          <p:cNvGrpSpPr/>
          <p:nvPr/>
        </p:nvGrpSpPr>
        <p:grpSpPr>
          <a:xfrm>
            <a:off x="274320" y="4839411"/>
            <a:ext cx="8595360" cy="256032"/>
            <a:chOff x="274320" y="5193792"/>
            <a:chExt cx="8595360" cy="256032"/>
          </a:xfrm>
        </p:grpSpPr>
        <p:sp>
          <p:nvSpPr>
            <p:cNvPr id="61" name="Shape 58"/>
            <p:cNvSpPr/>
            <p:nvPr/>
          </p:nvSpPr>
          <p:spPr>
            <a:xfrm>
              <a:off x="274320" y="5193792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59"/>
            <p:cNvSpPr/>
            <p:nvPr/>
          </p:nvSpPr>
          <p:spPr>
            <a:xfrm>
              <a:off x="411480" y="5193792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화면에 직접 표시되는 항목: 주입률 상한·하한·1회 변경 주입률·혼화지 목표 잔류염소. 나머지 4개(운전모드·보정주기·홀딩 편차·대기시간)는 내부 연산에만 사용됩니다.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주요인자 영역</a:t>
            </a:r>
            <a:endParaRPr lang="en-US" sz="2200" dirty="0"/>
          </a:p>
        </p:txBody>
      </p:sp>
      <p:pic>
        <p:nvPicPr>
          <p:cNvPr id="4" name="Image 0" descr="/home/claude/pre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834640" cy="3035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834640" cy="3035808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E2B3658-3F1A-4478-89F7-0A5F6889F028}"/>
              </a:ext>
            </a:extLst>
          </p:cNvPr>
          <p:cNvGrpSpPr/>
          <p:nvPr/>
        </p:nvGrpSpPr>
        <p:grpSpPr>
          <a:xfrm>
            <a:off x="3337560" y="868680"/>
            <a:ext cx="5532120" cy="3026664"/>
            <a:chOff x="3337560" y="868680"/>
            <a:chExt cx="5532120" cy="3026664"/>
          </a:xfrm>
        </p:grpSpPr>
        <p:sp>
          <p:nvSpPr>
            <p:cNvPr id="6" name="Shape 3"/>
            <p:cNvSpPr/>
            <p:nvPr/>
          </p:nvSpPr>
          <p:spPr>
            <a:xfrm>
              <a:off x="3337560" y="868680"/>
              <a:ext cx="5532120" cy="274320"/>
            </a:xfrm>
            <a:prstGeom prst="rect">
              <a:avLst/>
            </a:prstGeom>
            <a:solidFill>
              <a:srgbClr val="0E7490"/>
            </a:solidFill>
            <a:ln w="12700">
              <a:solidFill>
                <a:srgbClr val="0E749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4"/>
            <p:cNvSpPr/>
            <p:nvPr/>
          </p:nvSpPr>
          <p:spPr>
            <a:xfrm>
              <a:off x="3429000" y="868680"/>
              <a:ext cx="5349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항목별 변수명 · 태그번호 · 출처 · GRU 모델 입력 여부</a:t>
              </a:r>
              <a:endParaRPr lang="en-US" sz="10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337560" y="1143000"/>
              <a:ext cx="5532120" cy="237744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6"/>
            <p:cNvSpPr/>
            <p:nvPr/>
          </p:nvSpPr>
          <p:spPr>
            <a:xfrm>
              <a:off x="3383280" y="1143000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7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892040" y="1143000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변수명</a:t>
              </a:r>
              <a:endParaRPr lang="en-US" sz="7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035040" y="1143000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태그번호</a:t>
              </a:r>
              <a:endParaRPr lang="en-US" sz="7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366760" y="1143000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모델</a:t>
              </a: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입력</a:t>
              </a:r>
              <a:endParaRPr lang="en-US" sz="7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3337560" y="138074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4" name="Text 11"/>
            <p:cNvSpPr/>
            <p:nvPr/>
          </p:nvSpPr>
          <p:spPr>
            <a:xfrm>
              <a:off x="3383280" y="138074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수온 (℃)</a:t>
              </a:r>
              <a:endParaRPr lang="en-US" sz="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892040" y="138074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b_te</a:t>
              </a:r>
              <a:endParaRPr lang="en-US" sz="7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035040" y="138074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771-358-TEI-6028</a:t>
              </a:r>
              <a:endParaRPr lang="en-US" sz="7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366760" y="138074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3337560" y="163220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16"/>
            <p:cNvSpPr/>
            <p:nvPr/>
          </p:nvSpPr>
          <p:spPr>
            <a:xfrm>
              <a:off x="3383280" y="163220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탁도</a:t>
              </a:r>
              <a:endParaRPr lang="en-US" sz="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892040" y="163220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b_tb</a:t>
              </a:r>
              <a:endParaRPr lang="en-US" sz="7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035040" y="163220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771-358-TBI-6001</a:t>
              </a:r>
              <a:endParaRPr lang="en-US" sz="7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8366760" y="163220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3337560" y="188366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4" name="Text 21"/>
            <p:cNvSpPr/>
            <p:nvPr/>
          </p:nvSpPr>
          <p:spPr>
            <a:xfrm>
              <a:off x="3383280" y="188366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pH</a:t>
              </a:r>
              <a:endParaRPr lang="en-US" sz="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4892040" y="188366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b_ph</a:t>
              </a:r>
              <a:endParaRPr lang="en-US" sz="7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035040" y="188366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771-358-PHI-6003</a:t>
              </a:r>
              <a:endParaRPr lang="en-US" sz="7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8366760" y="188366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3337560" y="213512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9" name="Text 26"/>
            <p:cNvSpPr/>
            <p:nvPr/>
          </p:nvSpPr>
          <p:spPr>
            <a:xfrm>
              <a:off x="3383280" y="213512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전기전도도</a:t>
              </a:r>
              <a:endParaRPr lang="en-US" sz="8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892040" y="213512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b_cu</a:t>
              </a:r>
              <a:endParaRPr lang="en-US" sz="7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035040" y="213512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771-358-CUI-6004</a:t>
              </a:r>
              <a:endParaRPr lang="en-US" sz="7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8366760" y="213512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3337560" y="238658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4" name="Text 31"/>
            <p:cNvSpPr/>
            <p:nvPr/>
          </p:nvSpPr>
          <p:spPr>
            <a:xfrm>
              <a:off x="3383280" y="238658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알카리도</a:t>
              </a:r>
              <a:endParaRPr lang="en-US" sz="8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4892040" y="238658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b_al</a:t>
              </a:r>
              <a:endParaRPr lang="en-US" sz="7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6035040" y="238658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771-358-ALI-6001</a:t>
              </a:r>
              <a:endParaRPr lang="en-US" sz="7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8366760" y="238658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3337560" y="263804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9" name="Text 36"/>
            <p:cNvSpPr/>
            <p:nvPr/>
          </p:nvSpPr>
          <p:spPr>
            <a:xfrm>
              <a:off x="3383280" y="263804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취수 망간</a:t>
              </a:r>
              <a:endParaRPr lang="en-US" sz="8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892040" y="263804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mnr</a:t>
              </a:r>
              <a:endParaRPr lang="en-US" sz="7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6035040" y="263804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771-358-MNI-3001</a:t>
              </a:r>
              <a:endParaRPr lang="en-US" sz="7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8366760" y="263804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3337560" y="288950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4" name="Text 41"/>
            <p:cNvSpPr/>
            <p:nvPr/>
          </p:nvSpPr>
          <p:spPr>
            <a:xfrm>
              <a:off x="3383280" y="288950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유입 유량 (m³/h)</a:t>
              </a:r>
              <a:endParaRPr lang="en-US" sz="8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4892040" y="288950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b_in_fr</a:t>
              </a:r>
              <a:endParaRPr lang="en-US" sz="7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6035040" y="288950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771-358-FRI-2011</a:t>
              </a:r>
              <a:endParaRPr lang="en-US" sz="7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8366760" y="288950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05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3337560" y="314096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9" name="Text 46"/>
            <p:cNvSpPr/>
            <p:nvPr/>
          </p:nvSpPr>
          <p:spPr>
            <a:xfrm>
              <a:off x="3383280" y="314096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혼화지 잔류 염소 (ppm)</a:t>
              </a:r>
              <a:endParaRPr lang="en-US" sz="8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4892040" y="314096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g_d_residual_cl</a:t>
              </a:r>
              <a:endParaRPr lang="en-US" sz="7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6035040" y="314096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771-358-CLI-6001</a:t>
              </a:r>
              <a:endParaRPr lang="en-US" sz="7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8366760" y="314096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53" name="Shape 50"/>
            <p:cNvSpPr/>
            <p:nvPr/>
          </p:nvSpPr>
          <p:spPr>
            <a:xfrm>
              <a:off x="3337560" y="339242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Text 51"/>
            <p:cNvSpPr/>
            <p:nvPr/>
          </p:nvSpPr>
          <p:spPr>
            <a:xfrm>
              <a:off x="3383280" y="339242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잔류 염소 (ppm)</a:t>
              </a:r>
              <a:endParaRPr lang="en-US" sz="8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4892040" y="339242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g_b_residual_cl</a:t>
              </a:r>
              <a:endParaRPr lang="en-US" sz="7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6035040" y="339242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771-358-CLI-6011</a:t>
              </a:r>
              <a:endParaRPr lang="en-US" sz="7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8366760" y="339242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050" dirty="0"/>
            </a:p>
          </p:txBody>
        </p:sp>
        <p:sp>
          <p:nvSpPr>
            <p:cNvPr id="58" name="Shape 55"/>
            <p:cNvSpPr/>
            <p:nvPr/>
          </p:nvSpPr>
          <p:spPr>
            <a:xfrm>
              <a:off x="3337560" y="364388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56"/>
            <p:cNvSpPr/>
            <p:nvPr/>
          </p:nvSpPr>
          <p:spPr>
            <a:xfrm>
              <a:off x="3383280" y="364388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 주입률 (ppm)</a:t>
              </a:r>
              <a:endParaRPr lang="en-US" sz="8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4892040" y="364388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g_pre_chol_rate</a:t>
              </a:r>
              <a:endParaRPr lang="en-US" sz="7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6035040" y="364388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771-358-CIC-5113</a:t>
              </a:r>
              <a:endParaRPr lang="en-US" sz="700" dirty="0"/>
            </a:p>
          </p:txBody>
        </p:sp>
        <p:sp>
          <p:nvSpPr>
            <p:cNvPr id="62" name="Text 59"/>
            <p:cNvSpPr/>
            <p:nvPr/>
          </p:nvSpPr>
          <p:spPr>
            <a:xfrm>
              <a:off x="8366760" y="364388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597C515-D3DA-2326-9C10-A7E8FBA59D68}"/>
              </a:ext>
            </a:extLst>
          </p:cNvPr>
          <p:cNvGrpSpPr/>
          <p:nvPr/>
        </p:nvGrpSpPr>
        <p:grpSpPr>
          <a:xfrm>
            <a:off x="274320" y="3995928"/>
            <a:ext cx="8595360" cy="630936"/>
            <a:chOff x="274320" y="3995928"/>
            <a:chExt cx="8595360" cy="1078992"/>
          </a:xfrm>
        </p:grpSpPr>
        <p:sp>
          <p:nvSpPr>
            <p:cNvPr id="63" name="Shape 60"/>
            <p:cNvSpPr/>
            <p:nvPr/>
          </p:nvSpPr>
          <p:spPr>
            <a:xfrm>
              <a:off x="274320" y="3995928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64" name="Text 61"/>
            <p:cNvSpPr/>
            <p:nvPr/>
          </p:nvSpPr>
          <p:spPr>
            <a:xfrm>
              <a:off x="365760" y="3995928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 설명 및 AI 활용 방식</a:t>
              </a:r>
              <a:endParaRPr lang="en-US" sz="900" dirty="0"/>
            </a:p>
          </p:txBody>
        </p:sp>
        <p:sp>
          <p:nvSpPr>
            <p:cNvPr id="65" name="Shape 62"/>
            <p:cNvSpPr/>
            <p:nvPr/>
          </p:nvSpPr>
          <p:spPr>
            <a:xfrm>
              <a:off x="274320" y="4270248"/>
              <a:ext cx="859536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66" name="Text 63"/>
            <p:cNvSpPr/>
            <p:nvPr/>
          </p:nvSpPr>
          <p:spPr>
            <a:xfrm>
              <a:off x="411480" y="4288536"/>
              <a:ext cx="832104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GRU 모델 입력(O) 8개: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수온·원수탁도·원수pH·전기전도도·알카리도·취수망간·혼화지잔류염소·현재주입률 — Savitzky-Golay 스무딩 후 시퀀스 길이 120으로 모델에 입력됩니다.
</a:t>
              </a: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원수 유입 유량: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GRU 모델 직접 입력은 아니며 IN_VAL에 저장되어 웹 화면에 표시됩니다.
</a:t>
              </a:r>
              <a:r>
                <a:rPr lang="en-US" sz="8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원수 잔류 염소: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증발량 산출 수식(현재주입률 + 원수잔류염소 - 혼화지잔류염소 예측값)에 사용됩니다.</a:t>
              </a:r>
              <a:endParaRPr lang="en-US" sz="8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D719459C-BCD0-78FF-29E8-D8BC1759269B}"/>
              </a:ext>
            </a:extLst>
          </p:cNvPr>
          <p:cNvGrpSpPr/>
          <p:nvPr/>
        </p:nvGrpSpPr>
        <p:grpSpPr>
          <a:xfrm>
            <a:off x="274320" y="4722876"/>
            <a:ext cx="8595360" cy="256032"/>
            <a:chOff x="274320" y="5138928"/>
            <a:chExt cx="8595360" cy="256032"/>
          </a:xfrm>
        </p:grpSpPr>
        <p:sp>
          <p:nvSpPr>
            <p:cNvPr id="67" name="Shape 64"/>
            <p:cNvSpPr/>
            <p:nvPr/>
          </p:nvSpPr>
          <p:spPr>
            <a:xfrm>
              <a:off x="274320" y="5138928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8" name="Text 65"/>
            <p:cNvSpPr/>
            <p:nvPr/>
          </p:nvSpPr>
          <p:spPr>
            <a:xfrm>
              <a:off x="411480" y="5138928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모든 값은 TB_AI_PRE_G_RT(AI 결과 테이블)에서 조회합니다. 현재 주입률(g_pre_chol_rate)은 771-358-CIC-5113 태그의 현재 설정값이며, AI 제어 태그이기도 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알고리즘 예측 영역 (전염소 염소소모량 예측)</a:t>
            </a:r>
            <a:endParaRPr lang="en-US" sz="1900" dirty="0"/>
          </a:p>
        </p:txBody>
      </p:sp>
      <p:pic>
        <p:nvPicPr>
          <p:cNvPr id="4" name="Image 0" descr="/home/claude/pre_al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657600" cy="3374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657600" cy="337413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160520" y="868680"/>
            <a:ext cx="470916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7" name="Text 4"/>
          <p:cNvSpPr/>
          <p:nvPr/>
        </p:nvSpPr>
        <p:spPr>
          <a:xfrm>
            <a:off x="4251960" y="868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60520" y="1143000"/>
            <a:ext cx="4709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9" name="Text 6"/>
          <p:cNvSpPr/>
          <p:nvPr/>
        </p:nvSpPr>
        <p:spPr>
          <a:xfrm>
            <a:off x="4206240" y="1143000"/>
            <a:ext cx="1371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605272" y="1143000"/>
            <a:ext cx="3218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전염소 염소소모량 예측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60520" y="1527048"/>
            <a:ext cx="470916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" name="Text 9"/>
          <p:cNvSpPr/>
          <p:nvPr/>
        </p:nvSpPr>
        <p:spPr>
          <a:xfrm>
            <a:off x="4206240" y="1527048"/>
            <a:ext cx="1371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605272" y="1527048"/>
            <a:ext cx="3218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ai_g_consumption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60520" y="1911096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5" name="Text 12"/>
          <p:cNvSpPr/>
          <p:nvPr/>
        </p:nvSpPr>
        <p:spPr>
          <a:xfrm>
            <a:off x="4206240" y="1911096"/>
            <a:ext cx="13716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605272" y="1911096"/>
            <a:ext cx="32186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TB_AI_PRE_G_RT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JSON → AI_G_CONSUMPTION)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60520" y="2295144"/>
            <a:ext cx="4709160" cy="47548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8" name="Text 15"/>
          <p:cNvSpPr/>
          <p:nvPr/>
        </p:nvSpPr>
        <p:spPr>
          <a:xfrm>
            <a:off x="4206240" y="2295144"/>
            <a:ext cx="13716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1호기/2호기 표시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05272" y="2295144"/>
            <a:ext cx="32186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g_pump_1_run / g_pump_2_run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가동 중인 펌프 기준으로 표시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60520" y="2788920"/>
            <a:ext cx="47091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1" name="Text 18"/>
          <p:cNvSpPr/>
          <p:nvPr/>
        </p:nvSpPr>
        <p:spPr>
          <a:xfrm>
            <a:off x="4251960" y="2788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염소소모량 산출 수식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60520" y="3063240"/>
            <a:ext cx="4709160" cy="585216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3" name="Text 20"/>
          <p:cNvSpPr/>
          <p:nvPr/>
        </p:nvSpPr>
        <p:spPr>
          <a:xfrm>
            <a:off x="429768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ai_g_consumption 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주입률 (g_pre_chol_rate)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원수 잔류염소 (g_b_residual_cl)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GRU 예측 혼화지 잔류염소 (ai_g_d_residual_cl)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60520" y="3730752"/>
            <a:ext cx="4709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5" name="Text 22"/>
          <p:cNvSpPr/>
          <p:nvPr/>
        </p:nvSpPr>
        <p:spPr>
          <a:xfrm>
            <a:off x="4251960" y="37490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주입률로 인해 혼화지에 도달했을 때 실제로 소모될 것으로 예측되는 염소량입니다.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모델이 예측한 혼화지 잔류염소와 현재 투입량을 비교하여 소모량을 추정합니다.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4352544"/>
            <a:ext cx="8595360" cy="329184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11480" y="43708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화면에 "2호기 1.28 ppm" 표시는 현재 2호기 펌프(CIB-5122)가 가동 중이며, AI가 예측한 염소소모량이 1.28 ppm임을 의미합니다.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 값은 직접 제어에 사용되지 않으며, 운영자의 참고용 예측치입니다.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예측결과 영역 (AI 다음목표 주입률 예측)</a:t>
            </a:r>
            <a:endParaRPr lang="en-US" sz="1900" dirty="0"/>
          </a:p>
        </p:txBody>
      </p:sp>
      <p:pic>
        <p:nvPicPr>
          <p:cNvPr id="4" name="Image 0" descr="/home/claude/pre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20040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200400" cy="3246120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749040" y="868680"/>
            <a:ext cx="512064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7" name="Text 4"/>
          <p:cNvSpPr/>
          <p:nvPr/>
        </p:nvSpPr>
        <p:spPr>
          <a:xfrm>
            <a:off x="3840480" y="868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49040" y="1143000"/>
            <a:ext cx="5120640" cy="256032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9" name="Text 6"/>
          <p:cNvSpPr/>
          <p:nvPr/>
        </p:nvSpPr>
        <p:spPr>
          <a:xfrm>
            <a:off x="379476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69280" y="11430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23760" y="1143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749040" y="1399032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3" name="Text 10"/>
          <p:cNvSpPr/>
          <p:nvPr/>
        </p:nvSpPr>
        <p:spPr>
          <a:xfrm>
            <a:off x="3794760" y="1399032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예측결과 시각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69280" y="1399032"/>
            <a:ext cx="1508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upd_ti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23760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TB_AI_PRE_G_RT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749040" y="1746504"/>
            <a:ext cx="5120640" cy="347472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17" name="Text 14"/>
          <p:cNvSpPr/>
          <p:nvPr/>
        </p:nvSpPr>
        <p:spPr>
          <a:xfrm>
            <a:off x="3794760" y="1746504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주입률 (ppm)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69280" y="1746504"/>
            <a:ext cx="1508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g_pre_chol_rate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223760" y="1746504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IN_VAL → G_PRE_CHOL_RATE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749040" y="2093976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1" name="Text 18"/>
          <p:cNvSpPr/>
          <p:nvPr/>
        </p:nvSpPr>
        <p:spPr>
          <a:xfrm>
            <a:off x="3794760" y="2093976"/>
            <a:ext cx="1828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다음목표 주입률 (ppm)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69280" y="2093976"/>
            <a:ext cx="1508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ai_g_chol_rate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223760" y="2093976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OUT_VAL → AI_G_CHOL_RATE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749040" y="2441448"/>
            <a:ext cx="5120640" cy="457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5" name="Text 22"/>
          <p:cNvSpPr/>
          <p:nvPr/>
        </p:nvSpPr>
        <p:spPr>
          <a:xfrm>
            <a:off x="3794760" y="2441448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1호기/2호기 표시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69280" y="2441448"/>
            <a:ext cx="1508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g_pump_1_run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g_pump_2_run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23760" y="2441448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OUT_VAL → G_PUMP_1/2_RUN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749040" y="2862072"/>
            <a:ext cx="512064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29" name="Text 26"/>
          <p:cNvSpPr/>
          <p:nvPr/>
        </p:nvSpPr>
        <p:spPr>
          <a:xfrm>
            <a:off x="3840480" y="2862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ai_g_chol_rate 산출 과정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749040" y="3136392"/>
            <a:ext cx="5120640" cy="80467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600"/>
          </a:p>
        </p:txBody>
      </p:sp>
      <p:sp>
        <p:nvSpPr>
          <p:cNvPr id="31" name="Text 28"/>
          <p:cNvSpPr/>
          <p:nvPr/>
        </p:nvSpPr>
        <p:spPr>
          <a:xfrm>
            <a:off x="3858768" y="316382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GRU 모델 → 혼화지 잔류염소 예측 (ai_g_d_residual_cl)
② 편차 → 보정량 (ai_g_pre_correct_degree) 계산
③ ai_g_chol_rate = 현재주입률 + 보정량 → 상·하한 클리핑
④ 보정주기 + 80분 홀딩 확인 후 제어 전송</a:t>
            </a:r>
            <a:endParaRPr lang="en-US" sz="10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6DE570A-13FF-7ED5-F710-5536C7391A68}"/>
              </a:ext>
            </a:extLst>
          </p:cNvPr>
          <p:cNvGrpSpPr/>
          <p:nvPr/>
        </p:nvGrpSpPr>
        <p:grpSpPr>
          <a:xfrm>
            <a:off x="274320" y="4206240"/>
            <a:ext cx="8595360" cy="630936"/>
            <a:chOff x="274320" y="4206240"/>
            <a:chExt cx="8595360" cy="914400"/>
          </a:xfrm>
        </p:grpSpPr>
        <p:sp>
          <p:nvSpPr>
            <p:cNvPr id="32" name="Shape 29"/>
            <p:cNvSpPr/>
            <p:nvPr/>
          </p:nvSpPr>
          <p:spPr>
            <a:xfrm>
              <a:off x="274320" y="420624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420624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구성 요소 설명</a:t>
              </a:r>
              <a:endParaRPr lang="en-US" sz="10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480560"/>
              <a:ext cx="859536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498848"/>
              <a:ext cx="832104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 주입률 (1.51 ppm):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CIC-5113 태그의 현재 설정값 (IN_VAL에서 읽어옴)
</a:t>
              </a:r>
              <a:r>
                <a:rPr lang="en-US" sz="9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AI 다음목표 주입률 (1.52 ppm):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보정주기 도달 시 설비에 전달될 다음 주입률 예측값 (ai_g_chol_rate)
</a:t>
              </a:r>
              <a:r>
                <a:rPr lang="en-US" sz="9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2호기 표시: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g_pump_2_run = 1 (현재 2호기 펌프 가동 중). 1호기가 가동 중이면 "1호기"로 표시됨.</a:t>
              </a:r>
              <a:endParaRPr lang="en-US" sz="9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EB6476B-5808-DAEB-9658-0E979FAC3607}"/>
              </a:ext>
            </a:extLst>
          </p:cNvPr>
          <p:cNvGrpSpPr/>
          <p:nvPr/>
        </p:nvGrpSpPr>
        <p:grpSpPr>
          <a:xfrm>
            <a:off x="274320" y="4855464"/>
            <a:ext cx="8595360" cy="256032"/>
            <a:chOff x="274320" y="5184648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5184648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5184648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현재값과 예측값의 차이(0.01 ppm)가 1회 변경 임계치(0.01 ppm)와 같거나 이상이면 보정주기 도달 시 TB_AI_PRE_G_CTR → Kafka → 설비로 전송됩니다.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전염소 염소소모량 예측 트렌드 차트</a:t>
            </a:r>
            <a:endParaRPr lang="en-US" sz="2000" dirty="0"/>
          </a:p>
        </p:txBody>
      </p:sp>
      <p:pic>
        <p:nvPicPr>
          <p:cNvPr id="4" name="Image 0" descr="/home/claude/pre_consump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7548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754880" cy="3017520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7" name="Text 4"/>
          <p:cNvSpPr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12080" y="1143000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9" name="Text 6"/>
          <p:cNvSpPr/>
          <p:nvPr/>
        </p:nvSpPr>
        <p:spPr>
          <a:xfrm>
            <a:off x="5257800" y="114300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291072" y="1143000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148132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5" name="Text 12"/>
          <p:cNvSpPr/>
          <p:nvPr/>
        </p:nvSpPr>
        <p:spPr>
          <a:xfrm>
            <a:off x="5257800" y="1481328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291072" y="1481328"/>
            <a:ext cx="25328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TB_AI_PRE_G_RT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→ AI_G_CONSUMPTION)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212080" y="1819656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8" name="Text 15"/>
          <p:cNvSpPr/>
          <p:nvPr/>
        </p:nvSpPr>
        <p:spPr>
          <a:xfrm>
            <a:off x="5257800" y="1819656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291072" y="1819656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12080" y="2157984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1" name="Text 18"/>
          <p:cNvSpPr/>
          <p:nvPr/>
        </p:nvSpPr>
        <p:spPr>
          <a:xfrm>
            <a:off x="5257800" y="2157984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291072" y="2157984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(3시간 간격 tick)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212080" y="2496312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4" name="Text 21"/>
          <p:cNvSpPr/>
          <p:nvPr/>
        </p:nvSpPr>
        <p:spPr>
          <a:xfrm>
            <a:off x="5257800" y="2496312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291072" y="2496312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 (염소소모량)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212080" y="2834640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7" name="Text 24"/>
          <p:cNvSpPr/>
          <p:nvPr/>
        </p:nvSpPr>
        <p:spPr>
          <a:xfrm>
            <a:off x="5257800" y="283464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291072" y="2834640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점선 = 현재 시각 기준선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212080" y="3172968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30" name="Text 27"/>
          <p:cNvSpPr/>
          <p:nvPr/>
        </p:nvSpPr>
        <p:spPr>
          <a:xfrm>
            <a:off x="5257800" y="3172968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291072" y="3172968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전체화면 · JPEG · CSV</a:t>
            </a:r>
            <a:endParaRPr lang="en-US" sz="8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866FA26-E613-7D0C-A94C-D150BBC37B78}"/>
              </a:ext>
            </a:extLst>
          </p:cNvPr>
          <p:cNvGrpSpPr/>
          <p:nvPr/>
        </p:nvGrpSpPr>
        <p:grpSpPr>
          <a:xfrm>
            <a:off x="274320" y="3977640"/>
            <a:ext cx="8595360" cy="621792"/>
            <a:chOff x="274320" y="3977640"/>
            <a:chExt cx="8595360" cy="932688"/>
          </a:xfrm>
        </p:grpSpPr>
        <p:sp>
          <p:nvSpPr>
            <p:cNvPr id="32" name="Shape 29"/>
            <p:cNvSpPr/>
            <p:nvPr/>
          </p:nvSpPr>
          <p:spPr>
            <a:xfrm>
              <a:off x="274320" y="397764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397764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차트 의미 및 현재 상태 해석</a:t>
              </a:r>
              <a:endParaRPr lang="en-US" sz="9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251960"/>
              <a:ext cx="8595360" cy="65836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270248"/>
              <a:ext cx="83210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GRU 모델이 예측한 혼화지 잔류염소 기반으로 산출된 "염소소모량(ai_g_consumption)"의 24시간 시계열을 표시합니다.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 화면 기준: 주로 1.1~1.4 ppm 범위에서 운영 중이며, 새벽 시간대(03:00~06:00)에 소모량이 낮아졌다가 오전 이후 다시 상승하는 패턴을 보입니다.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이 값은 직접 제어에 사용되지 않고, 운영자의 참고용 예측치입니다.</a:t>
              </a:r>
              <a:endParaRPr lang="en-US" sz="8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102921F-51A7-C2D4-F97A-8AF931B9BB97}"/>
              </a:ext>
            </a:extLst>
          </p:cNvPr>
          <p:cNvGrpSpPr/>
          <p:nvPr/>
        </p:nvGrpSpPr>
        <p:grpSpPr>
          <a:xfrm>
            <a:off x="274320" y="4619244"/>
            <a:ext cx="8595360" cy="256032"/>
            <a:chOff x="274320" y="4974336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4974336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974336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전차염·후차염 화면 모두 동일 구조의 염소소모량 예측 차트(ChartOptionGConsumption)를 사용하며, 각각 TB_AI_PRE_G_RT / TB_AI_POST_G_RT에서 데이터를 가져옵니다.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(전차염) — 전염소 주입률 예측 트렌드 차트</a:t>
            </a:r>
            <a:endParaRPr lang="en-US" sz="2100" dirty="0"/>
          </a:p>
        </p:txBody>
      </p:sp>
      <p:pic>
        <p:nvPicPr>
          <p:cNvPr id="4" name="Image 0" descr="/home/claude/pre_chol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846320" cy="2962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846320" cy="296265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349240" y="868680"/>
            <a:ext cx="3520440" cy="274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7" name="Text 4"/>
          <p:cNvSpPr/>
          <p:nvPr/>
        </p:nvSpPr>
        <p:spPr>
          <a:xfrm>
            <a:off x="5440680" y="868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49240" y="1143000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9" name="Text 6"/>
          <p:cNvSpPr/>
          <p:nvPr/>
        </p:nvSpPr>
        <p:spPr>
          <a:xfrm>
            <a:off x="5394960" y="114300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428232" y="1143000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349240" y="1476756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5" name="Text 12"/>
          <p:cNvSpPr/>
          <p:nvPr/>
        </p:nvSpPr>
        <p:spPr>
          <a:xfrm>
            <a:off x="5394960" y="1476756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28232" y="1476756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TB_AI_PRE_G_RT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→ AI_G_CHOL_RATE)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349240" y="1815084"/>
            <a:ext cx="3520440" cy="457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8" name="Text 15"/>
          <p:cNvSpPr/>
          <p:nvPr/>
        </p:nvSpPr>
        <p:spPr>
          <a:xfrm>
            <a:off x="5394960" y="1815084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현재값 표시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428232" y="1815084"/>
            <a:ext cx="2395728" cy="333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g_pre_chol_rate (차트 우측 상단)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771-358-CIC-5113 현재 설정값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349240" y="2153412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1" name="Text 18"/>
          <p:cNvSpPr/>
          <p:nvPr/>
        </p:nvSpPr>
        <p:spPr>
          <a:xfrm>
            <a:off x="5394960" y="2153412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428232" y="2153412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349240" y="2491740"/>
            <a:ext cx="352044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4" name="Text 21"/>
          <p:cNvSpPr/>
          <p:nvPr/>
        </p:nvSpPr>
        <p:spPr>
          <a:xfrm>
            <a:off x="5394960" y="249174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428232" y="2491740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(3시간 간격 tick)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349240" y="2830068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7" name="Text 24"/>
          <p:cNvSpPr/>
          <p:nvPr/>
        </p:nvSpPr>
        <p:spPr>
          <a:xfrm>
            <a:off x="5394960" y="2830068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28232" y="2830068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 (주입률)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349240" y="3168396"/>
            <a:ext cx="352044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30" name="Text 27"/>
          <p:cNvSpPr/>
          <p:nvPr/>
        </p:nvSpPr>
        <p:spPr>
          <a:xfrm>
            <a:off x="5394960" y="3168396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428232" y="3168396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점선 = 현재 시각</a:t>
            </a:r>
            <a:endParaRPr lang="en-US" sz="8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FC29699-5C0F-37EB-4662-18E81B57FB1D}"/>
              </a:ext>
            </a:extLst>
          </p:cNvPr>
          <p:cNvGrpSpPr/>
          <p:nvPr/>
        </p:nvGrpSpPr>
        <p:grpSpPr>
          <a:xfrm>
            <a:off x="274320" y="3931920"/>
            <a:ext cx="8595360" cy="708660"/>
            <a:chOff x="274320" y="3931920"/>
            <a:chExt cx="8595360" cy="987552"/>
          </a:xfrm>
        </p:grpSpPr>
        <p:sp>
          <p:nvSpPr>
            <p:cNvPr id="32" name="Shape 29"/>
            <p:cNvSpPr/>
            <p:nvPr/>
          </p:nvSpPr>
          <p:spPr>
            <a:xfrm>
              <a:off x="274320" y="393192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393192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차트 의미 및 소모량 차트와의 관계</a:t>
              </a:r>
              <a:endParaRPr lang="en-US" sz="10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206240"/>
              <a:ext cx="859536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224528"/>
              <a:ext cx="83210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이 차트는 AI가 산출한 다음 주입률 예측값(ai_g_chol_rate)의 24시간 변화를 보여줍니다. 현재 화면 기준: 1.3~1.7 ppm 범위에서 단계적으로 변화했으며, 오전 10:00 이후 1.7 ppm으로 상승 중입니다.
</a:t>
              </a:r>
              <a:r>
                <a:rPr lang="en-US" sz="9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염소소모량 차트(슬라이드 29):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GRU 예측 기반 소모량 참고치 / 주입률 예측 차트(이 슬라이드): 실제 제어에 사용되는 ai_g_chol_rate 이력</a:t>
              </a:r>
              <a:endParaRPr lang="en-US" sz="9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95456F2-CF24-A4D3-E261-85DCEB745846}"/>
              </a:ext>
            </a:extLst>
          </p:cNvPr>
          <p:cNvGrpSpPr/>
          <p:nvPr/>
        </p:nvGrpSpPr>
        <p:grpSpPr>
          <a:xfrm>
            <a:off x="274320" y="4627456"/>
            <a:ext cx="8595360" cy="256032"/>
            <a:chOff x="274320" y="4983480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4983480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983480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계단형 패턴은 보정주기(g_pre_calib_cycle) 도달 시점마다 주입률이 갱신되는 것을 나타냅니다. 우측 상단 ≡ 메뉴로 전체화면·JPEG·CSV 저장 가능합니다.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좌측 설비 현황 및 하단 설정값</a:t>
            </a:r>
            <a:endParaRPr lang="en-US" sz="2000" dirty="0"/>
          </a:p>
        </p:txBody>
      </p:sp>
      <p:pic>
        <p:nvPicPr>
          <p:cNvPr id="4" name="Image 0" descr="/home/claude/post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423160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423160" cy="2980944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582DBDB-B9AF-A9DA-E89E-389B29FACED1}"/>
              </a:ext>
            </a:extLst>
          </p:cNvPr>
          <p:cNvGrpSpPr/>
          <p:nvPr/>
        </p:nvGrpSpPr>
        <p:grpSpPr>
          <a:xfrm>
            <a:off x="2926080" y="868680"/>
            <a:ext cx="5943600" cy="749808"/>
            <a:chOff x="2926080" y="868680"/>
            <a:chExt cx="5943600" cy="749808"/>
          </a:xfrm>
        </p:grpSpPr>
        <p:sp>
          <p:nvSpPr>
            <p:cNvPr id="6" name="Shape 3"/>
            <p:cNvSpPr/>
            <p:nvPr/>
          </p:nvSpPr>
          <p:spPr>
            <a:xfrm>
              <a:off x="2926080" y="868680"/>
              <a:ext cx="5943600" cy="27432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4"/>
            <p:cNvSpPr/>
            <p:nvPr/>
          </p:nvSpPr>
          <p:spPr>
            <a:xfrm>
              <a:off x="3017520" y="868680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1호기 / 2호기 — 후차염 펌프 운전 상태 표시</a:t>
              </a:r>
              <a:endParaRPr lang="en-US" sz="10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2926080" y="1143000"/>
              <a:ext cx="5943600" cy="4754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6"/>
            <p:cNvSpPr/>
            <p:nvPr/>
          </p:nvSpPr>
          <p:spPr>
            <a:xfrm>
              <a:off x="3017520" y="1161288"/>
              <a:ext cx="57607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1호기 (CIB-5212) / 2호기 (CIB-5222):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후차염 펌프 RUN 상태를 시각적으로 표시합니다.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펌프 가동 여부는 OUT_VAL의 G_PUMP_1_RUN / G_PUMP_2_RUN에 저장되며, AI 예측 시 결측 처리에도 활용됩니다.</a:t>
              </a:r>
              <a:endParaRPr lang="en-US" sz="9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E9289F5-1248-CA61-0FC6-6C331AD6485E}"/>
              </a:ext>
            </a:extLst>
          </p:cNvPr>
          <p:cNvGrpSpPr/>
          <p:nvPr/>
        </p:nvGrpSpPr>
        <p:grpSpPr>
          <a:xfrm>
            <a:off x="2926080" y="1700784"/>
            <a:ext cx="5943600" cy="2157984"/>
            <a:chOff x="2926080" y="1700784"/>
            <a:chExt cx="5943600" cy="2578608"/>
          </a:xfrm>
        </p:grpSpPr>
        <p:sp>
          <p:nvSpPr>
            <p:cNvPr id="10" name="Shape 7"/>
            <p:cNvSpPr/>
            <p:nvPr/>
          </p:nvSpPr>
          <p:spPr>
            <a:xfrm>
              <a:off x="2926080" y="1700784"/>
              <a:ext cx="5943600" cy="27432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8"/>
            <p:cNvSpPr/>
            <p:nvPr/>
          </p:nvSpPr>
          <p:spPr>
            <a:xfrm>
              <a:off x="3017520" y="1700784"/>
              <a:ext cx="5760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② 하단 설정값 — TB_AI_POST_G_INIT에서 읽어옴 (연필 아이콘으로 수정)</a:t>
              </a:r>
              <a:endParaRPr lang="en-US" sz="10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2926080" y="1975104"/>
              <a:ext cx="5943600" cy="256032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0"/>
            <p:cNvSpPr/>
            <p:nvPr/>
          </p:nvSpPr>
          <p:spPr>
            <a:xfrm>
              <a:off x="2971800" y="1975104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7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4754880" y="1975104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ITM 키</a:t>
              </a:r>
              <a:endParaRPr lang="en-US" sz="7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217920" y="1975104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연산 영향</a:t>
              </a:r>
              <a:endParaRPr lang="en-US" sz="7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7955280" y="1975104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현재값</a:t>
              </a:r>
              <a:endParaRPr lang="en-US" sz="700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2926080" y="2231136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8" name="Text 15"/>
            <p:cNvSpPr/>
            <p:nvPr/>
          </p:nvSpPr>
          <p:spPr>
            <a:xfrm>
              <a:off x="2971800" y="2231136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상한 (ppm)</a:t>
              </a:r>
              <a:endParaRPr lang="en-US" sz="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4754880" y="2231136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g_post_set_max</a:t>
              </a:r>
              <a:endParaRPr lang="en-US" sz="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217920" y="223113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출력 클리핑 (상한)</a:t>
              </a:r>
              <a:endParaRPr lang="en-US" sz="7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7955280" y="2231136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1.00</a:t>
              </a:r>
              <a:endParaRPr lang="en-US" sz="80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2926080" y="2487168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3" name="Text 20"/>
            <p:cNvSpPr/>
            <p:nvPr/>
          </p:nvSpPr>
          <p:spPr>
            <a:xfrm>
              <a:off x="2971800" y="2487168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하한 (ppm)</a:t>
              </a:r>
              <a:endParaRPr lang="en-US" sz="8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754880" y="248716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g_post_set_min</a:t>
              </a:r>
              <a:endParaRPr lang="en-US" sz="6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6217920" y="248716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출력 클리핑 (하한)</a:t>
              </a:r>
              <a:endParaRPr lang="en-US" sz="7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7955280" y="2487168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0.78</a:t>
              </a:r>
              <a:endParaRPr lang="en-US" sz="8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2926080" y="2743200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8" name="Text 25"/>
            <p:cNvSpPr/>
            <p:nvPr/>
          </p:nvSpPr>
          <p:spPr>
            <a:xfrm>
              <a:off x="2971800" y="274320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1회 변경 주입률 (ppm)</a:t>
              </a:r>
              <a:endParaRPr lang="en-US" sz="8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4754880" y="2743200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g_post_chg_limit_for_onetime</a:t>
              </a:r>
              <a:endParaRPr lang="en-US" sz="6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6217920" y="2743200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1회 최대 변화량 제한</a:t>
              </a:r>
              <a:endParaRPr lang="en-US" sz="7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7955280" y="274320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0.05</a:t>
              </a:r>
              <a:endParaRPr lang="en-US" sz="8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2926080" y="2999232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3" name="Text 30"/>
            <p:cNvSpPr/>
            <p:nvPr/>
          </p:nvSpPr>
          <p:spPr>
            <a:xfrm>
              <a:off x="2971800" y="2999232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목표 잔류염소</a:t>
              </a:r>
              <a:endParaRPr lang="en-US" sz="8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4754880" y="2999232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g_h_in_obj_residual_cl</a:t>
              </a:r>
              <a:endParaRPr lang="en-US" sz="6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6217920" y="2999232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산출 기준값</a:t>
              </a:r>
              <a:endParaRPr lang="en-US" sz="7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7955280" y="29992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0.92</a:t>
              </a:r>
              <a:endParaRPr lang="en-US" sz="800" dirty="0"/>
            </a:p>
          </p:txBody>
        </p:sp>
        <p:sp>
          <p:nvSpPr>
            <p:cNvPr id="37" name="Shape 34"/>
            <p:cNvSpPr/>
            <p:nvPr/>
          </p:nvSpPr>
          <p:spPr>
            <a:xfrm>
              <a:off x="2926080" y="3255264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8" name="Text 35"/>
            <p:cNvSpPr/>
            <p:nvPr/>
          </p:nvSpPr>
          <p:spPr>
            <a:xfrm>
              <a:off x="2971800" y="3255264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운전모드</a:t>
              </a:r>
              <a:endParaRPr lang="en-US" sz="8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4754880" y="3255264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g_post_operation_mode</a:t>
              </a:r>
              <a:endParaRPr lang="en-US" sz="6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6217920" y="3255264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0=분석/1=추천/2=자동</a:t>
              </a:r>
              <a:endParaRPr lang="en-US" sz="7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7955280" y="3255264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42" name="Shape 39"/>
            <p:cNvSpPr/>
            <p:nvPr/>
          </p:nvSpPr>
          <p:spPr>
            <a:xfrm>
              <a:off x="2926080" y="3511296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3" name="Text 40"/>
            <p:cNvSpPr/>
            <p:nvPr/>
          </p:nvSpPr>
          <p:spPr>
            <a:xfrm>
              <a:off x="2971800" y="3511296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보정 주기 (분)</a:t>
              </a:r>
              <a:endParaRPr lang="en-US" sz="80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4754880" y="3511296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g_post_calib_cycle</a:t>
              </a:r>
              <a:endParaRPr lang="en-US" sz="6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6217920" y="3511296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주입률 업데이트 주기</a:t>
              </a:r>
              <a:endParaRPr lang="en-US" sz="7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955280" y="3511296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47" name="Shape 44"/>
            <p:cNvSpPr/>
            <p:nvPr/>
          </p:nvSpPr>
          <p:spPr>
            <a:xfrm>
              <a:off x="2926080" y="3767328"/>
              <a:ext cx="5943600" cy="256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8" name="Text 45"/>
            <p:cNvSpPr/>
            <p:nvPr/>
          </p:nvSpPr>
          <p:spPr>
            <a:xfrm>
              <a:off x="2971800" y="3767328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잔류염소 홀딩</a:t>
              </a:r>
              <a:endParaRPr lang="en-US" sz="800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4754880" y="3767328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g_h_in_residual_cl_holding</a:t>
              </a:r>
              <a:endParaRPr lang="en-US" sz="6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6217920" y="3767328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편차 이내면 주입률 유지</a:t>
              </a:r>
              <a:endParaRPr lang="en-US" sz="7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7955280" y="3767328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52" name="Shape 49"/>
            <p:cNvSpPr/>
            <p:nvPr/>
          </p:nvSpPr>
          <p:spPr>
            <a:xfrm>
              <a:off x="2926080" y="4023360"/>
              <a:ext cx="5943600" cy="25603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3" name="Text 50"/>
            <p:cNvSpPr/>
            <p:nvPr/>
          </p:nvSpPr>
          <p:spPr>
            <a:xfrm>
              <a:off x="2971800" y="402336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주입후 잔류염소 대기시간</a:t>
              </a:r>
              <a:endParaRPr lang="en-US" sz="800" dirty="0"/>
            </a:p>
          </p:txBody>
        </p:sp>
        <p:sp>
          <p:nvSpPr>
            <p:cNvPr id="54" name="Text 51"/>
            <p:cNvSpPr/>
            <p:nvPr/>
          </p:nvSpPr>
          <p:spPr>
            <a:xfrm>
              <a:off x="4754880" y="4023360"/>
              <a:ext cx="141732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g_post_chol_rate_holding_time</a:t>
              </a:r>
              <a:endParaRPr lang="en-US" sz="6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6217920" y="4023360"/>
              <a:ext cx="1691640" cy="25603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0D948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기본 80분, 변동 없으면 제어 보류</a:t>
              </a:r>
              <a:endParaRPr lang="en-US" sz="7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7955280" y="4023360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—</a:t>
              </a:r>
              <a:endParaRPr lang="en-US" sz="80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CB57017E-DDDE-D620-A61F-B1BDBC7BDBEE}"/>
              </a:ext>
            </a:extLst>
          </p:cNvPr>
          <p:cNvGrpSpPr/>
          <p:nvPr/>
        </p:nvGrpSpPr>
        <p:grpSpPr>
          <a:xfrm>
            <a:off x="274320" y="3923749"/>
            <a:ext cx="8595360" cy="621792"/>
            <a:chOff x="274320" y="4315968"/>
            <a:chExt cx="8595360" cy="822960"/>
          </a:xfrm>
        </p:grpSpPr>
        <p:sp>
          <p:nvSpPr>
            <p:cNvPr id="57" name="Shape 54"/>
            <p:cNvSpPr/>
            <p:nvPr/>
          </p:nvSpPr>
          <p:spPr>
            <a:xfrm>
              <a:off x="274320" y="4315968"/>
              <a:ext cx="8595360" cy="256032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58" name="Text 55"/>
            <p:cNvSpPr/>
            <p:nvPr/>
          </p:nvSpPr>
          <p:spPr>
            <a:xfrm>
              <a:off x="365760" y="4315968"/>
              <a:ext cx="8412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③ 전차염(PRE)과의 주요 차이점</a:t>
              </a:r>
              <a:endParaRPr lang="en-US" sz="900" dirty="0"/>
            </a:p>
          </p:txBody>
        </p:sp>
        <p:sp>
          <p:nvSpPr>
            <p:cNvPr id="59" name="Shape 56"/>
            <p:cNvSpPr/>
            <p:nvPr/>
          </p:nvSpPr>
          <p:spPr>
            <a:xfrm>
              <a:off x="274320" y="4572000"/>
              <a:ext cx="8595360" cy="5669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60" name="Text 57"/>
            <p:cNvSpPr/>
            <p:nvPr/>
          </p:nvSpPr>
          <p:spPr>
            <a:xfrm>
              <a:off x="411480" y="4590288"/>
              <a:ext cx="832104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목표 기준: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전차염은 혼화지 잔류염소(g_d_obj_residual_cl) 기준 / 후차염은 정수지 유입 잔류염소(g_h_in_obj_residual_cl) 기준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제어 태그: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전차염 = 771-358-CIC-5113 / 후차염 = 771-358-CIC-5213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GRU 모델: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각각 별도 모델(model_pre.h5 / model_post.h5) 사용</a:t>
              </a:r>
              <a:endParaRPr lang="en-US" sz="800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D0A5AE2-8610-6E2D-9382-9DFEB3DA34D6}"/>
              </a:ext>
            </a:extLst>
          </p:cNvPr>
          <p:cNvGrpSpPr/>
          <p:nvPr/>
        </p:nvGrpSpPr>
        <p:grpSpPr>
          <a:xfrm>
            <a:off x="274320" y="4610712"/>
            <a:ext cx="8595360" cy="256032"/>
            <a:chOff x="274320" y="5193792"/>
            <a:chExt cx="8595360" cy="256032"/>
          </a:xfrm>
        </p:grpSpPr>
        <p:sp>
          <p:nvSpPr>
            <p:cNvPr id="61" name="Shape 58"/>
            <p:cNvSpPr/>
            <p:nvPr/>
          </p:nvSpPr>
          <p:spPr>
            <a:xfrm>
              <a:off x="274320" y="5193792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2" name="Text 59"/>
            <p:cNvSpPr/>
            <p:nvPr/>
          </p:nvSpPr>
          <p:spPr>
            <a:xfrm>
              <a:off x="411480" y="5193792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화면에 표시되는 항목: 주입률 상한·하한·1회 변경 주입률·정수지 유입 목표 잔류염소. 나머지 4개(운전모드·보정주기·홀딩 편차·대기시간)는 내부 연산 전용입니다.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주요인자 영역</a:t>
            </a:r>
            <a:endParaRPr lang="en-US" sz="2200" dirty="0"/>
          </a:p>
        </p:txBody>
      </p:sp>
      <p:pic>
        <p:nvPicPr>
          <p:cNvPr id="4" name="Image 0" descr="/home/claude/post_f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28346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834640" cy="2926080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1C44E74-A6C5-2BDF-983D-2DB656B31CBD}"/>
              </a:ext>
            </a:extLst>
          </p:cNvPr>
          <p:cNvGrpSpPr/>
          <p:nvPr/>
        </p:nvGrpSpPr>
        <p:grpSpPr>
          <a:xfrm>
            <a:off x="3337560" y="868680"/>
            <a:ext cx="5532120" cy="2865120"/>
            <a:chOff x="3337560" y="868680"/>
            <a:chExt cx="5532120" cy="3026664"/>
          </a:xfrm>
        </p:grpSpPr>
        <p:sp>
          <p:nvSpPr>
            <p:cNvPr id="6" name="Shape 3"/>
            <p:cNvSpPr/>
            <p:nvPr/>
          </p:nvSpPr>
          <p:spPr>
            <a:xfrm>
              <a:off x="3337560" y="868680"/>
              <a:ext cx="5532120" cy="27432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4"/>
            <p:cNvSpPr/>
            <p:nvPr/>
          </p:nvSpPr>
          <p:spPr>
            <a:xfrm>
              <a:off x="3429000" y="868680"/>
              <a:ext cx="5349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항목별 변수명 · 태그번호 · 출처 · GRU 모델 입력 여부</a:t>
              </a:r>
              <a:endParaRPr lang="en-US" sz="10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337560" y="1143000"/>
              <a:ext cx="5532120" cy="237744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6"/>
            <p:cNvSpPr/>
            <p:nvPr/>
          </p:nvSpPr>
          <p:spPr>
            <a:xfrm>
              <a:off x="3383280" y="1143000"/>
              <a:ext cx="1463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7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892040" y="1143000"/>
              <a:ext cx="1097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변수명</a:t>
              </a:r>
              <a:endParaRPr lang="en-US" sz="7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035040" y="1143000"/>
              <a:ext cx="2286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태그번호</a:t>
              </a:r>
              <a:endParaRPr lang="en-US" sz="7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366760" y="1143000"/>
              <a:ext cx="457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GRU 입력</a:t>
              </a:r>
              <a:endParaRPr lang="en-US" sz="7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3337560" y="138074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4" name="Text 11"/>
            <p:cNvSpPr/>
            <p:nvPr/>
          </p:nvSpPr>
          <p:spPr>
            <a:xfrm>
              <a:off x="3383280" y="138074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 pH</a:t>
              </a:r>
              <a:endParaRPr lang="en-US" sz="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892040" y="138074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h_ph</a:t>
              </a:r>
              <a:endParaRPr lang="en-US" sz="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035040" y="138074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771-358-PHI-4021</a:t>
              </a:r>
              <a:endParaRPr lang="en-US" sz="7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366760" y="138074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3337560" y="163220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9" name="Text 16"/>
            <p:cNvSpPr/>
            <p:nvPr/>
          </p:nvSpPr>
          <p:spPr>
            <a:xfrm>
              <a:off x="3383280" y="163220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원수 온도 (℃)</a:t>
              </a:r>
              <a:endParaRPr lang="en-US" sz="8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4892040" y="163220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b_te</a:t>
              </a:r>
              <a:endParaRPr lang="en-US" sz="600" dirty="0"/>
            </a:p>
          </p:txBody>
        </p:sp>
        <p:sp>
          <p:nvSpPr>
            <p:cNvPr id="21" name="Text 18"/>
            <p:cNvSpPr/>
            <p:nvPr/>
          </p:nvSpPr>
          <p:spPr>
            <a:xfrm>
              <a:off x="6035040" y="163220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771-358-TEI-6028</a:t>
              </a:r>
              <a:endParaRPr lang="en-US" sz="7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8366760" y="163220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3337560" y="188366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4" name="Text 21"/>
            <p:cNvSpPr/>
            <p:nvPr/>
          </p:nvSpPr>
          <p:spPr>
            <a:xfrm>
              <a:off x="3383280" y="188366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막여과 통합 탁도</a:t>
              </a:r>
              <a:endParaRPr lang="en-US" sz="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4892040" y="188366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f_tb</a:t>
              </a:r>
              <a:endParaRPr lang="en-US" sz="6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6035040" y="188366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771-358-TBI-6011</a:t>
              </a:r>
              <a:endParaRPr lang="en-US" sz="7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8366760" y="188366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3337560" y="213512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9" name="Text 26"/>
            <p:cNvSpPr/>
            <p:nvPr/>
          </p:nvSpPr>
          <p:spPr>
            <a:xfrm>
              <a:off x="3383280" y="213512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 탁도 (NTU)</a:t>
              </a:r>
              <a:endParaRPr lang="en-US" sz="8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892040" y="213512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h_tb</a:t>
              </a:r>
              <a:endParaRPr lang="en-US" sz="6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6035040" y="213512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771-358-TBI-4021</a:t>
              </a:r>
              <a:endParaRPr lang="en-US" sz="700" dirty="0"/>
            </a:p>
          </p:txBody>
        </p:sp>
        <p:sp>
          <p:nvSpPr>
            <p:cNvPr id="32" name="Text 29"/>
            <p:cNvSpPr/>
            <p:nvPr/>
          </p:nvSpPr>
          <p:spPr>
            <a:xfrm>
              <a:off x="8366760" y="213512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05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3337560" y="238658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4" name="Text 31"/>
            <p:cNvSpPr/>
            <p:nvPr/>
          </p:nvSpPr>
          <p:spPr>
            <a:xfrm>
              <a:off x="3383280" y="238658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유량 (m³/h)</a:t>
              </a:r>
              <a:endParaRPr lang="en-US" sz="8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4892040" y="238658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h_in_fr</a:t>
              </a:r>
              <a:endParaRPr lang="en-US" sz="600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6035040" y="238658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771-358-FRI-4011</a:t>
              </a:r>
              <a:endParaRPr lang="en-US" sz="700" dirty="0"/>
            </a:p>
          </p:txBody>
        </p:sp>
        <p:sp>
          <p:nvSpPr>
            <p:cNvPr id="37" name="Text 34"/>
            <p:cNvSpPr/>
            <p:nvPr/>
          </p:nvSpPr>
          <p:spPr>
            <a:xfrm>
              <a:off x="8366760" y="238658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3337560" y="263804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9" name="Text 36"/>
            <p:cNvSpPr/>
            <p:nvPr/>
          </p:nvSpPr>
          <p:spPr>
            <a:xfrm>
              <a:off x="3383280" y="263804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잔류염소 (ppm)</a:t>
              </a:r>
              <a:endParaRPr lang="en-US" sz="8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4892040" y="263804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g_h_in_residual_cl</a:t>
              </a:r>
              <a:endParaRPr lang="en-US" sz="6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6035040" y="263804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771-358-CLI-4011</a:t>
              </a:r>
              <a:endParaRPr lang="en-US" sz="7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8366760" y="263804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43" name="Shape 40"/>
            <p:cNvSpPr/>
            <p:nvPr/>
          </p:nvSpPr>
          <p:spPr>
            <a:xfrm>
              <a:off x="3337560" y="288950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4" name="Text 41"/>
            <p:cNvSpPr/>
            <p:nvPr/>
          </p:nvSpPr>
          <p:spPr>
            <a:xfrm>
              <a:off x="3383280" y="288950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유출 잔류염소 (ppm)</a:t>
              </a:r>
              <a:endParaRPr lang="en-US" sz="800" dirty="0"/>
            </a:p>
          </p:txBody>
        </p:sp>
        <p:sp>
          <p:nvSpPr>
            <p:cNvPr id="45" name="Text 42"/>
            <p:cNvSpPr/>
            <p:nvPr/>
          </p:nvSpPr>
          <p:spPr>
            <a:xfrm>
              <a:off x="4892040" y="288950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g_h_out_residual_cl</a:t>
              </a:r>
              <a:endParaRPr lang="en-US" sz="60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6035040" y="288950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771-358-CLI-4021</a:t>
              </a:r>
              <a:endParaRPr lang="en-US" sz="7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8366760" y="288950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64748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050" dirty="0"/>
            </a:p>
          </p:txBody>
        </p:sp>
        <p:sp>
          <p:nvSpPr>
            <p:cNvPr id="48" name="Shape 45"/>
            <p:cNvSpPr/>
            <p:nvPr/>
          </p:nvSpPr>
          <p:spPr>
            <a:xfrm>
              <a:off x="3337560" y="314096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9" name="Text 46"/>
            <p:cNvSpPr/>
            <p:nvPr/>
          </p:nvSpPr>
          <p:spPr>
            <a:xfrm>
              <a:off x="3383280" y="314096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정수지 유입 잔류염소 (평활)</a:t>
              </a:r>
              <a:endParaRPr lang="en-US" sz="800" dirty="0"/>
            </a:p>
          </p:txBody>
        </p:sp>
        <p:sp>
          <p:nvSpPr>
            <p:cNvPr id="50" name="Text 47"/>
            <p:cNvSpPr/>
            <p:nvPr/>
          </p:nvSpPr>
          <p:spPr>
            <a:xfrm>
              <a:off x="4892040" y="314096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g_h_in_residual_cl_prep</a:t>
              </a:r>
              <a:endParaRPr lang="en-US" sz="600" dirty="0"/>
            </a:p>
          </p:txBody>
        </p:sp>
        <p:sp>
          <p:nvSpPr>
            <p:cNvPr id="51" name="Text 48"/>
            <p:cNvSpPr/>
            <p:nvPr/>
          </p:nvSpPr>
          <p:spPr>
            <a:xfrm>
              <a:off x="6035040" y="314096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(CLI-4011 평활 처리값)</a:t>
              </a:r>
              <a:endParaRPr lang="en-US" sz="700" dirty="0"/>
            </a:p>
          </p:txBody>
        </p:sp>
        <p:sp>
          <p:nvSpPr>
            <p:cNvPr id="52" name="Text 49"/>
            <p:cNvSpPr/>
            <p:nvPr/>
          </p:nvSpPr>
          <p:spPr>
            <a:xfrm>
              <a:off x="8366760" y="314096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53" name="Shape 50"/>
            <p:cNvSpPr/>
            <p:nvPr/>
          </p:nvSpPr>
          <p:spPr>
            <a:xfrm>
              <a:off x="3337560" y="3392424"/>
              <a:ext cx="5532120" cy="251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4" name="Text 51"/>
            <p:cNvSpPr/>
            <p:nvPr/>
          </p:nvSpPr>
          <p:spPr>
            <a:xfrm>
              <a:off x="3383280" y="339242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여과수 통합 잔류염소 (ppm)</a:t>
              </a:r>
              <a:endParaRPr lang="en-US" sz="800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4892040" y="339242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g_f_out_residual_cl</a:t>
              </a:r>
              <a:endParaRPr lang="en-US" sz="600" dirty="0"/>
            </a:p>
          </p:txBody>
        </p:sp>
        <p:sp>
          <p:nvSpPr>
            <p:cNvPr id="56" name="Text 53"/>
            <p:cNvSpPr/>
            <p:nvPr/>
          </p:nvSpPr>
          <p:spPr>
            <a:xfrm>
              <a:off x="6035040" y="339242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771-358-CLI-6022</a:t>
              </a:r>
              <a:endParaRPr lang="en-US" sz="700" dirty="0"/>
            </a:p>
          </p:txBody>
        </p:sp>
        <p:sp>
          <p:nvSpPr>
            <p:cNvPr id="57" name="Text 54"/>
            <p:cNvSpPr/>
            <p:nvPr/>
          </p:nvSpPr>
          <p:spPr>
            <a:xfrm>
              <a:off x="8366760" y="339242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  <p:sp>
          <p:nvSpPr>
            <p:cNvPr id="58" name="Shape 55"/>
            <p:cNvSpPr/>
            <p:nvPr/>
          </p:nvSpPr>
          <p:spPr>
            <a:xfrm>
              <a:off x="3337560" y="3643884"/>
              <a:ext cx="5532120" cy="251460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56"/>
            <p:cNvSpPr/>
            <p:nvPr/>
          </p:nvSpPr>
          <p:spPr>
            <a:xfrm>
              <a:off x="3383280" y="3643884"/>
              <a:ext cx="146304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 주입률 (ppm)</a:t>
              </a:r>
              <a:endParaRPr lang="en-US" sz="800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4892040" y="3643884"/>
              <a:ext cx="109728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6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g_post_chol_rate</a:t>
              </a:r>
              <a:endParaRPr lang="en-US" sz="600" dirty="0"/>
            </a:p>
          </p:txBody>
        </p:sp>
        <p:sp>
          <p:nvSpPr>
            <p:cNvPr id="61" name="Text 58"/>
            <p:cNvSpPr/>
            <p:nvPr/>
          </p:nvSpPr>
          <p:spPr>
            <a:xfrm>
              <a:off x="6035040" y="3643884"/>
              <a:ext cx="2286000" cy="2514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771-358-CIC-5213</a:t>
              </a:r>
              <a:endParaRPr lang="en-US" sz="700" dirty="0"/>
            </a:p>
          </p:txBody>
        </p:sp>
        <p:sp>
          <p:nvSpPr>
            <p:cNvPr id="62" name="Text 59"/>
            <p:cNvSpPr/>
            <p:nvPr/>
          </p:nvSpPr>
          <p:spPr>
            <a:xfrm>
              <a:off x="8366760" y="3643884"/>
              <a:ext cx="457200" cy="2514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0D94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</a:t>
              </a:r>
              <a:endParaRPr lang="en-US" sz="105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B72E265-29D1-2B5F-D427-FB827368F335}"/>
              </a:ext>
            </a:extLst>
          </p:cNvPr>
          <p:cNvGrpSpPr/>
          <p:nvPr/>
        </p:nvGrpSpPr>
        <p:grpSpPr>
          <a:xfrm>
            <a:off x="274320" y="3904488"/>
            <a:ext cx="8595360" cy="700441"/>
            <a:chOff x="274320" y="3904488"/>
            <a:chExt cx="8595360" cy="1078992"/>
          </a:xfrm>
        </p:grpSpPr>
        <p:sp>
          <p:nvSpPr>
            <p:cNvPr id="63" name="Shape 60"/>
            <p:cNvSpPr/>
            <p:nvPr/>
          </p:nvSpPr>
          <p:spPr>
            <a:xfrm>
              <a:off x="274320" y="3904488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Text 61"/>
            <p:cNvSpPr/>
            <p:nvPr/>
          </p:nvSpPr>
          <p:spPr>
            <a:xfrm>
              <a:off x="365760" y="3904488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항목 설명 및 전차염과의 차이</a:t>
              </a:r>
              <a:endParaRPr lang="en-US" sz="1000" dirty="0"/>
            </a:p>
          </p:txBody>
        </p:sp>
        <p:sp>
          <p:nvSpPr>
            <p:cNvPr id="65" name="Shape 62"/>
            <p:cNvSpPr/>
            <p:nvPr/>
          </p:nvSpPr>
          <p:spPr>
            <a:xfrm>
              <a:off x="274320" y="4178808"/>
              <a:ext cx="8595360" cy="8046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Text 63"/>
            <p:cNvSpPr/>
            <p:nvPr/>
          </p:nvSpPr>
          <p:spPr>
            <a:xfrm>
              <a:off x="411480" y="4197096"/>
              <a:ext cx="832104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정수지 유입 잔류염소(평활):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역세펌프(PMB-6014/6016) 가동 구간의 헌팅 데이터를 NaN 처리 후 평활화한 값. GRU 모델에 직접 입력됩니다.
</a:t>
              </a: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정수지 유출 잔류염소 / 정수 탁도: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GRU 모델 입력 아님. 화면 모니터링 및 IN_VAL 저장용입니다.
</a:t>
              </a: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전차염과 비교: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전차염은 원수·혼화지 기준 / 후차염은 정수지·여과수 기준으로 주입률을 결정합니다.</a:t>
              </a:r>
              <a:endParaRPr lang="en-US" sz="900" dirty="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2345FBE1-FF55-35B3-B66F-1C7584751DA4}"/>
              </a:ext>
            </a:extLst>
          </p:cNvPr>
          <p:cNvGrpSpPr/>
          <p:nvPr/>
        </p:nvGrpSpPr>
        <p:grpSpPr>
          <a:xfrm>
            <a:off x="274320" y="4729626"/>
            <a:ext cx="8595360" cy="256032"/>
            <a:chOff x="274320" y="5047488"/>
            <a:chExt cx="8595360" cy="256032"/>
          </a:xfrm>
        </p:grpSpPr>
        <p:sp>
          <p:nvSpPr>
            <p:cNvPr id="67" name="Shape 64"/>
            <p:cNvSpPr/>
            <p:nvPr/>
          </p:nvSpPr>
          <p:spPr>
            <a:xfrm>
              <a:off x="274320" y="5047488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8" name="Text 65"/>
            <p:cNvSpPr/>
            <p:nvPr/>
          </p:nvSpPr>
          <p:spPr>
            <a:xfrm>
              <a:off x="411480" y="5047488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모든 값은 TB_AI_POST_G_RT(AI 결과 테이블)에서 조회합니다. 현재 주입률(g_post_chol_rate)은 771-358-CIC-5213 태그의 현재 설정값이며, AI 제어 태그이기도 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알고리즘 예측 영역 (후염소 염소소모량 예측)</a:t>
            </a:r>
            <a:endParaRPr lang="en-US" sz="1900" dirty="0"/>
          </a:p>
        </p:txBody>
      </p:sp>
      <p:pic>
        <p:nvPicPr>
          <p:cNvPr id="4" name="Image 0" descr="/home/claude/post_al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657600" cy="3374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657600" cy="337413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160520" y="868680"/>
            <a:ext cx="470916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7" name="Text 4"/>
          <p:cNvSpPr/>
          <p:nvPr/>
        </p:nvSpPr>
        <p:spPr>
          <a:xfrm>
            <a:off x="4251960" y="8686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160520" y="1143000"/>
            <a:ext cx="4709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9" name="Text 6"/>
          <p:cNvSpPr/>
          <p:nvPr/>
        </p:nvSpPr>
        <p:spPr>
          <a:xfrm>
            <a:off x="4206240" y="1143000"/>
            <a:ext cx="1371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표시명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605272" y="1143000"/>
            <a:ext cx="3218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후염소 염소소모량 예측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60520" y="1527048"/>
            <a:ext cx="4709160" cy="38404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" name="Text 9"/>
          <p:cNvSpPr/>
          <p:nvPr/>
        </p:nvSpPr>
        <p:spPr>
          <a:xfrm>
            <a:off x="4206240" y="1527048"/>
            <a:ext cx="13716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변수명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605272" y="1527048"/>
            <a:ext cx="3218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ai_g_consumption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60520" y="1911096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5" name="Text 12"/>
          <p:cNvSpPr/>
          <p:nvPr/>
        </p:nvSpPr>
        <p:spPr>
          <a:xfrm>
            <a:off x="4206240" y="1911096"/>
            <a:ext cx="13716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605272" y="1911096"/>
            <a:ext cx="321868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TB_AI_POST_G_RT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→ AI_G_CONSUMPTION)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60520" y="2295144"/>
            <a:ext cx="4709160" cy="47548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8" name="Text 15"/>
          <p:cNvSpPr/>
          <p:nvPr/>
        </p:nvSpPr>
        <p:spPr>
          <a:xfrm>
            <a:off x="4206240" y="2295144"/>
            <a:ext cx="13716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1/2호기 표시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05272" y="2295144"/>
            <a:ext cx="32186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g_pump_1_run / g_pump_2_run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가동 중인 펌프 기준 표시</a:t>
            </a:r>
            <a:endParaRPr lang="en-US" sz="8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FE21344-F3C9-2348-9AA9-6A55716BB68A}"/>
              </a:ext>
            </a:extLst>
          </p:cNvPr>
          <p:cNvGrpSpPr/>
          <p:nvPr/>
        </p:nvGrpSpPr>
        <p:grpSpPr>
          <a:xfrm>
            <a:off x="4160520" y="2788920"/>
            <a:ext cx="4709160" cy="932688"/>
            <a:chOff x="4160520" y="2788920"/>
            <a:chExt cx="4709160" cy="932688"/>
          </a:xfrm>
        </p:grpSpPr>
        <p:sp>
          <p:nvSpPr>
            <p:cNvPr id="20" name="Shape 17"/>
            <p:cNvSpPr/>
            <p:nvPr/>
          </p:nvSpPr>
          <p:spPr>
            <a:xfrm>
              <a:off x="4160520" y="2788920"/>
              <a:ext cx="47091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1" name="Text 18"/>
            <p:cNvSpPr/>
            <p:nvPr/>
          </p:nvSpPr>
          <p:spPr>
            <a:xfrm>
              <a:off x="4251960" y="2788920"/>
              <a:ext cx="4526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후염소 소모량 산출 수식</a:t>
              </a:r>
              <a:endParaRPr lang="en-US" sz="1050" dirty="0"/>
            </a:p>
          </p:txBody>
        </p:sp>
        <p:sp>
          <p:nvSpPr>
            <p:cNvPr id="22" name="Shape 19"/>
            <p:cNvSpPr/>
            <p:nvPr/>
          </p:nvSpPr>
          <p:spPr>
            <a:xfrm>
              <a:off x="4160520" y="3063240"/>
              <a:ext cx="4709160" cy="658368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3" name="Text 20"/>
            <p:cNvSpPr/>
            <p:nvPr/>
          </p:nvSpPr>
          <p:spPr>
            <a:xfrm>
              <a:off x="4270248" y="3081528"/>
              <a:ext cx="452628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ai_g_consumption =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현재 주입률 (g_post_chol_rate)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− GRU 예측 정수지 유입 잔류염소 (ai_g_h_in_residual_cl)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+ 여과수 통합 잔류염소 (g_f_out_residual_cl)</a:t>
              </a:r>
              <a:endParaRPr lang="en-US" sz="9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F347A71-55A6-E8F0-BAA7-6DA093EB6703}"/>
              </a:ext>
            </a:extLst>
          </p:cNvPr>
          <p:cNvGrpSpPr/>
          <p:nvPr/>
        </p:nvGrpSpPr>
        <p:grpSpPr>
          <a:xfrm>
            <a:off x="4160520" y="3803904"/>
            <a:ext cx="4709160" cy="274320"/>
            <a:chOff x="4160520" y="3803904"/>
            <a:chExt cx="4709160" cy="438912"/>
          </a:xfrm>
        </p:grpSpPr>
        <p:sp>
          <p:nvSpPr>
            <p:cNvPr id="24" name="Shape 21"/>
            <p:cNvSpPr/>
            <p:nvPr/>
          </p:nvSpPr>
          <p:spPr>
            <a:xfrm>
              <a:off x="4160520" y="3803904"/>
              <a:ext cx="470916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5" name="Text 22"/>
            <p:cNvSpPr/>
            <p:nvPr/>
          </p:nvSpPr>
          <p:spPr>
            <a:xfrm>
              <a:off x="4251960" y="3822192"/>
              <a:ext cx="4526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E749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전차염 수식:</a:t>
              </a:r>
              <a:r>
                <a:rPr lang="en-US" sz="9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현재주입률 + 원수잔류염소 − GRU예측 혼화지잔류염소
</a:t>
              </a: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후차염 수식:</a:t>
              </a:r>
              <a:r>
                <a:rPr lang="en-US" sz="9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현재주입률 − GRU예측 정수지유입잔류염소 + 여과수통합잔류염소</a:t>
              </a:r>
              <a:endParaRPr lang="en-US" sz="90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6CAE3FD-3D66-FB76-A1E2-F4C4EDC1A821}"/>
              </a:ext>
            </a:extLst>
          </p:cNvPr>
          <p:cNvGrpSpPr/>
          <p:nvPr/>
        </p:nvGrpSpPr>
        <p:grpSpPr>
          <a:xfrm>
            <a:off x="274320" y="4352544"/>
            <a:ext cx="8595360" cy="475488"/>
            <a:chOff x="274320" y="4352544"/>
            <a:chExt cx="8595360" cy="804672"/>
          </a:xfrm>
        </p:grpSpPr>
        <p:sp>
          <p:nvSpPr>
            <p:cNvPr id="26" name="Shape 23"/>
            <p:cNvSpPr/>
            <p:nvPr/>
          </p:nvSpPr>
          <p:spPr>
            <a:xfrm>
              <a:off x="274320" y="4352544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7" name="Text 24"/>
            <p:cNvSpPr/>
            <p:nvPr/>
          </p:nvSpPr>
          <p:spPr>
            <a:xfrm>
              <a:off x="365760" y="4352544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후차염 GRU 모델 특이점</a:t>
              </a:r>
              <a:endParaRPr lang="en-US" sz="10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274320" y="4626864"/>
              <a:ext cx="8595360" cy="53035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9" name="Text 26"/>
            <p:cNvSpPr/>
            <p:nvPr/>
          </p:nvSpPr>
          <p:spPr>
            <a:xfrm>
              <a:off x="411480" y="4645152"/>
              <a:ext cx="832104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시퀀스 길이: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후차염 GRU 모델은 전차염(120)보다 짧은 시퀀스 30으로 학습되어 있습니다. (model_post.h5)
</a:t>
              </a:r>
              <a:r>
                <a:rPr lang="en-US" sz="9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정수지 유입 잔류염소(평활):</a:t>
              </a: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최근 40분 최솟값으로 계산 (역세펌프 헌팅 제거 목적). 이 값을 목표값과 비교하여 보정량을 결정합니다.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예측결과 영역 (AI 다음목표 주입률 예측)</a:t>
            </a:r>
            <a:endParaRPr lang="en-US" sz="1900" dirty="0"/>
          </a:p>
        </p:txBody>
      </p:sp>
      <p:pic>
        <p:nvPicPr>
          <p:cNvPr id="4" name="Image 0" descr="/home/claude/pos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3200400" cy="31455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3200400" cy="314553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FF1DB50-D026-141F-685B-7683D1104192}"/>
              </a:ext>
            </a:extLst>
          </p:cNvPr>
          <p:cNvGrpSpPr/>
          <p:nvPr/>
        </p:nvGrpSpPr>
        <p:grpSpPr>
          <a:xfrm>
            <a:off x="3749040" y="868680"/>
            <a:ext cx="5212080" cy="1618488"/>
            <a:chOff x="3749040" y="868680"/>
            <a:chExt cx="5212080" cy="1920240"/>
          </a:xfrm>
        </p:grpSpPr>
        <p:sp>
          <p:nvSpPr>
            <p:cNvPr id="6" name="Shape 3"/>
            <p:cNvSpPr/>
            <p:nvPr/>
          </p:nvSpPr>
          <p:spPr>
            <a:xfrm>
              <a:off x="3749040" y="868680"/>
              <a:ext cx="5120640" cy="274320"/>
            </a:xfrm>
            <a:prstGeom prst="rect">
              <a:avLst/>
            </a:prstGeom>
            <a:solidFill>
              <a:srgbClr val="1D4ED8"/>
            </a:solidFill>
            <a:ln w="12700">
              <a:solidFill>
                <a:srgbClr val="1D4ED8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7" name="Text 4"/>
            <p:cNvSpPr/>
            <p:nvPr/>
          </p:nvSpPr>
          <p:spPr>
            <a:xfrm>
              <a:off x="3840480" y="868680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데이터 출처</a:t>
              </a:r>
              <a:endParaRPr lang="en-US" sz="10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749040" y="1143000"/>
              <a:ext cx="5120640" cy="256032"/>
            </a:xfrm>
            <a:prstGeom prst="rect">
              <a:avLst/>
            </a:prstGeom>
            <a:solidFill>
              <a:srgbClr val="1C5F7A"/>
            </a:solidFill>
            <a:ln w="12700">
              <a:solidFill>
                <a:srgbClr val="1C5F7A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9" name="Text 6"/>
            <p:cNvSpPr/>
            <p:nvPr/>
          </p:nvSpPr>
          <p:spPr>
            <a:xfrm>
              <a:off x="3794760" y="114300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표시명</a:t>
              </a:r>
              <a:endParaRPr lang="en-US" sz="8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669280" y="1143000"/>
              <a:ext cx="1508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변수명</a:t>
              </a:r>
              <a:endParaRPr lang="en-US" sz="8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223760" y="1143000"/>
              <a:ext cx="1737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출처</a:t>
              </a:r>
              <a:endParaRPr lang="en-US" sz="8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3749040" y="1399032"/>
              <a:ext cx="5120640" cy="3474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3" name="Text 10"/>
            <p:cNvSpPr/>
            <p:nvPr/>
          </p:nvSpPr>
          <p:spPr>
            <a:xfrm>
              <a:off x="3794760" y="1399032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예측결과 시각</a:t>
              </a:r>
              <a:endParaRPr lang="en-US" sz="9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669280" y="1399032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upd_ti</a:t>
              </a:r>
              <a:endParaRPr lang="en-US" sz="8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7223760" y="1399032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TB_AI_POST_G_RT</a:t>
              </a:r>
              <a:endParaRPr lang="en-US" sz="8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3749040" y="1746504"/>
              <a:ext cx="5120640" cy="3474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17" name="Text 14"/>
            <p:cNvSpPr/>
            <p:nvPr/>
          </p:nvSpPr>
          <p:spPr>
            <a:xfrm>
              <a:off x="3794760" y="1746504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현재 주입률 (ppm)</a:t>
              </a:r>
              <a:endParaRPr lang="en-US" sz="9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669280" y="1746504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g_post_chol_rate</a:t>
              </a:r>
              <a:endParaRPr lang="en-US" sz="8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223760" y="1746504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IN_VAL → G_POST_CHOL_RATE</a:t>
              </a:r>
              <a:endParaRPr lang="en-US" sz="8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3749040" y="2093976"/>
              <a:ext cx="5120640" cy="3474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1" name="Text 18"/>
            <p:cNvSpPr/>
            <p:nvPr/>
          </p:nvSpPr>
          <p:spPr>
            <a:xfrm>
              <a:off x="3794760" y="2093976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 다음목표 주입률 (ppm)</a:t>
              </a:r>
              <a:endParaRPr lang="en-US" sz="9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5669280" y="2093976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ai_g_chol_rate</a:t>
              </a:r>
              <a:endParaRPr lang="en-US" sz="8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7223760" y="2093976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OUT_VAL → AI_G_CHOL_RATE</a:t>
              </a:r>
              <a:endParaRPr lang="en-US" sz="8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3749040" y="2441448"/>
              <a:ext cx="5120640" cy="347472"/>
            </a:xfrm>
            <a:prstGeom prst="rect">
              <a:avLst/>
            </a:prstGeom>
            <a:solidFill>
              <a:srgbClr val="EFF8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25" name="Text 22"/>
            <p:cNvSpPr/>
            <p:nvPr/>
          </p:nvSpPr>
          <p:spPr>
            <a:xfrm>
              <a:off x="3794760" y="2441448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1/2호기 표시</a:t>
              </a:r>
              <a:endParaRPr lang="en-US" sz="9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5669280" y="2441448"/>
              <a:ext cx="15087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g_pump_1/2_run</a:t>
              </a:r>
              <a:endParaRPr lang="en-US" sz="8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7223760" y="2441448"/>
              <a:ext cx="1737360" cy="3474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4748B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OUT_VAL → G_PUMP_1/2_RUN</a:t>
              </a:r>
              <a:endParaRPr lang="en-US" sz="8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7600CB8-DAB0-4023-CF74-627B3A480BA6}"/>
              </a:ext>
            </a:extLst>
          </p:cNvPr>
          <p:cNvGrpSpPr/>
          <p:nvPr/>
        </p:nvGrpSpPr>
        <p:grpSpPr>
          <a:xfrm>
            <a:off x="3749040" y="2825496"/>
            <a:ext cx="5120640" cy="966651"/>
            <a:chOff x="3749040" y="2825496"/>
            <a:chExt cx="5120640" cy="1188720"/>
          </a:xfrm>
        </p:grpSpPr>
        <p:sp>
          <p:nvSpPr>
            <p:cNvPr id="28" name="Shape 25"/>
            <p:cNvSpPr/>
            <p:nvPr/>
          </p:nvSpPr>
          <p:spPr>
            <a:xfrm>
              <a:off x="3749040" y="2825496"/>
              <a:ext cx="512064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9" name="Text 26"/>
            <p:cNvSpPr/>
            <p:nvPr/>
          </p:nvSpPr>
          <p:spPr>
            <a:xfrm>
              <a:off x="3840480" y="2825496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ai_g_chol_rate 산출 과정</a:t>
              </a:r>
              <a:endParaRPr lang="en-US" sz="10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3749040" y="3099816"/>
              <a:ext cx="5120640" cy="914400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1" name="Text 28"/>
            <p:cNvSpPr/>
            <p:nvPr/>
          </p:nvSpPr>
          <p:spPr>
            <a:xfrm>
              <a:off x="3858768" y="3127248"/>
              <a:ext cx="4937760" cy="859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① GRU 모델 → 정수지 유입 잔류염소 예측 (ai_g_h_in_residual_cl)
② 정수지 유입 잔류염소 (평활, 최근 40분 최솟값) 기준
   목표값(g_h_in_obj_residual_cl)과의 편차 → 보정량 결정
③ ai_g_chol_rate = 현재주입률 + 보정량 → 상·하한 클리핑
④ 보정주기 + 80분 홀딩 확인 후 CTR 테이블 → Kafka → 설비 전송</a:t>
              </a:r>
              <a:endParaRPr lang="en-US" sz="9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B69AEA4-3EE7-9149-00C1-6FB2CA1ADCD4}"/>
              </a:ext>
            </a:extLst>
          </p:cNvPr>
          <p:cNvGrpSpPr/>
          <p:nvPr/>
        </p:nvGrpSpPr>
        <p:grpSpPr>
          <a:xfrm>
            <a:off x="274320" y="4114801"/>
            <a:ext cx="8595360" cy="685538"/>
            <a:chOff x="274320" y="4114800"/>
            <a:chExt cx="8595360" cy="914400"/>
          </a:xfrm>
        </p:grpSpPr>
        <p:sp>
          <p:nvSpPr>
            <p:cNvPr id="32" name="Shape 29"/>
            <p:cNvSpPr/>
            <p:nvPr/>
          </p:nvSpPr>
          <p:spPr>
            <a:xfrm>
              <a:off x="274320" y="411480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411480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화면 구성 요소 설명</a:t>
              </a:r>
              <a:endParaRPr lang="en-US" sz="9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389120"/>
              <a:ext cx="8595360" cy="6400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407408"/>
              <a:ext cx="832104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 주입률 (0.70 ppm):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CIC-5213 태그의 현재 설정값 (IN_VAL에서 읽어옴)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AI 다음목표 주입률 (0.70 ppm):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보정주기 도달 시 설비에 전달될 다음 주입률 예측값 (ai_g_chol_rate)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현재값 = 예측값 (0.70):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정수지 유입 잔류염소(평활)이 목표값(g_h_in_obj_residual_cl) ± 홀딩 범위 이내이므로 보정량 = 0</a:t>
              </a:r>
              <a:endParaRPr lang="en-US" sz="8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FAA151B-8A3C-0273-BFFF-89C89E85B1A8}"/>
              </a:ext>
            </a:extLst>
          </p:cNvPr>
          <p:cNvGrpSpPr/>
          <p:nvPr/>
        </p:nvGrpSpPr>
        <p:grpSpPr>
          <a:xfrm>
            <a:off x="274320" y="4818105"/>
            <a:ext cx="8595360" cy="256032"/>
            <a:chOff x="274320" y="5093208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5093208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5093208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예측값 ≠ 현재값이고, 차이가 1회 변경 임계치(g_post_chg_limit_for_onetime) 이상이면 보정주기 도달 시 TB_AI_POST_G_CTR → Kafka → 771-358-CIC-5213으로 전송됩니다.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후염소 염소소모량 예측 트렌드 차트</a:t>
            </a:r>
            <a:endParaRPr lang="en-US" sz="2000" dirty="0"/>
          </a:p>
        </p:txBody>
      </p:sp>
      <p:pic>
        <p:nvPicPr>
          <p:cNvPr id="4" name="Image 0" descr="/home/claude/post_consump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754880" cy="2907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754880" cy="2907792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212080" y="868680"/>
            <a:ext cx="365760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1143000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114300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91072" y="1143000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0" y="1481328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257800" y="1481328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91072" y="1481328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TB_AI_POST_G_RT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→ AI_G_CONSUMPTION)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212080" y="1819656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257800" y="1819656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91072" y="1819656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2157984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257800" y="2157984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91072" y="2157984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(3시간 간격 tick)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212080" y="2496312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257800" y="2496312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91072" y="2496312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 (염소소모량)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212080" y="2834640"/>
            <a:ext cx="365760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257800" y="283464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91072" y="2834640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점선 = 현재 시각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212080" y="3172968"/>
            <a:ext cx="365760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257800" y="3172968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91072" y="3172968"/>
            <a:ext cx="253288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전체화면 · JPEG · CSV</a:t>
            </a:r>
            <a:endParaRPr lang="en-US" sz="9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833D298-EF2A-59F6-61B7-16550DCE1759}"/>
              </a:ext>
            </a:extLst>
          </p:cNvPr>
          <p:cNvGrpSpPr/>
          <p:nvPr/>
        </p:nvGrpSpPr>
        <p:grpSpPr>
          <a:xfrm>
            <a:off x="274320" y="3867912"/>
            <a:ext cx="8595360" cy="594360"/>
            <a:chOff x="274320" y="3867912"/>
            <a:chExt cx="8595360" cy="987552"/>
          </a:xfrm>
        </p:grpSpPr>
        <p:sp>
          <p:nvSpPr>
            <p:cNvPr id="32" name="Shape 29"/>
            <p:cNvSpPr/>
            <p:nvPr/>
          </p:nvSpPr>
          <p:spPr>
            <a:xfrm>
              <a:off x="274320" y="3867912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3867912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차트 의미 및 전차염 차트와의 비교</a:t>
              </a:r>
              <a:endParaRPr lang="en-US" sz="9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142232"/>
              <a:ext cx="859536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160520"/>
              <a:ext cx="83210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GRU 모델이 예측한 정수지 유입 잔류염소 기반으로 산출된 후염소 소모량(ai_g_consumption)의 24시간 시계열입니다.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 화면 기준: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0.05~0.20 ppm 범위로 빠르게 변동. 전차염(1.1~1.4 ppm)보다 훨씬 낮은 소모량 수준입니다.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산출 수식: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현재주입률 − GRU예측 정수지유입잔류염소 + 여과수통합잔류염소 (전차염 수식과 다름)</a:t>
              </a:r>
              <a:endParaRPr lang="en-US" sz="800" dirty="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1019031-F438-1A7C-AD93-51D7459EE22E}"/>
              </a:ext>
            </a:extLst>
          </p:cNvPr>
          <p:cNvGrpSpPr/>
          <p:nvPr/>
        </p:nvGrpSpPr>
        <p:grpSpPr>
          <a:xfrm>
            <a:off x="274320" y="4618228"/>
            <a:ext cx="8595360" cy="256032"/>
            <a:chOff x="274320" y="4919472"/>
            <a:chExt cx="8595360" cy="256032"/>
          </a:xfrm>
        </p:grpSpPr>
        <p:sp>
          <p:nvSpPr>
            <p:cNvPr id="36" name="Shape 33"/>
            <p:cNvSpPr/>
            <p:nvPr/>
          </p:nvSpPr>
          <p:spPr>
            <a:xfrm>
              <a:off x="274320" y="4919472"/>
              <a:ext cx="8595360" cy="256032"/>
            </a:xfrm>
            <a:prstGeom prst="rect">
              <a:avLst/>
            </a:prstGeom>
            <a:solidFill>
              <a:srgbClr val="FEF9C3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37" name="Text 34"/>
            <p:cNvSpPr/>
            <p:nvPr/>
          </p:nvSpPr>
          <p:spPr>
            <a:xfrm>
              <a:off x="411480" y="4919472"/>
              <a:ext cx="8321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92400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※ 전차염·후차염 화면 모두 동일 컴포넌트(ChartOptionGConsumption)를 사용하며, 각각 TB_AI_PRE_G_RT / TB_AI_POST_G_RT에서 데이터를 가져옵니다. 이 값은 직접 제어에 사용되지 않습니다.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소독 (후차염) — 후염소 주입률 예측 트렌드 차트</a:t>
            </a:r>
            <a:endParaRPr lang="en-US" sz="2100" dirty="0"/>
          </a:p>
        </p:txBody>
      </p:sp>
      <p:pic>
        <p:nvPicPr>
          <p:cNvPr id="4" name="Image 0" descr="/home/claude/post_chol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846320" cy="29626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846320" cy="2962656"/>
          </a:xfrm>
          <a:prstGeom prst="rect">
            <a:avLst/>
          </a:prstGeom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349240" y="868680"/>
            <a:ext cx="352044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440680" y="868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49240" y="1143000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394960" y="114300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타입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28232" y="1143000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Spline (꺾은선) — Highcharts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49240" y="146304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39496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테이블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28232" y="1463040"/>
            <a:ext cx="239572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TB_AI_POST_G_RT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(OUT_VAL → AI_G_CHOL_RATE)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49240" y="1801368"/>
            <a:ext cx="3520440" cy="457200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5394960" y="1801368"/>
            <a:ext cx="1005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현재값 표시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28232" y="1801368"/>
            <a:ext cx="2395728" cy="356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g_post_chol_rate (우측 상단)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771-358-CIC-5213 현재 설정값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349240" y="2139696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5394960" y="2139696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28232" y="2139696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시각 기준 최근 24시간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349240" y="2478024"/>
            <a:ext cx="352044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394960" y="2478024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축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428232" y="2478024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(3시간 간격 tick)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349240" y="2816352"/>
            <a:ext cx="35204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394960" y="2816352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 축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28232" y="2816352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ppm (주입률)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3154680"/>
            <a:ext cx="3520440" cy="338328"/>
          </a:xfrm>
          <a:prstGeom prst="rect">
            <a:avLst/>
          </a:prstGeom>
          <a:solidFill>
            <a:srgbClr val="EFF8FF"/>
          </a:solidFill>
          <a:ln w="12700">
            <a:solidFill>
              <a:srgbClr val="C7DF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394960" y="3154680"/>
            <a:ext cx="100584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28232" y="3154680"/>
            <a:ext cx="2395728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점선 = 현재 시각</a:t>
            </a:r>
            <a:endParaRPr lang="en-US" sz="95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57DE1F-1ED2-32D7-6FA2-975E03265399}"/>
              </a:ext>
            </a:extLst>
          </p:cNvPr>
          <p:cNvGrpSpPr/>
          <p:nvPr/>
        </p:nvGrpSpPr>
        <p:grpSpPr>
          <a:xfrm>
            <a:off x="274320" y="3931920"/>
            <a:ext cx="8595360" cy="685800"/>
            <a:chOff x="274320" y="3931920"/>
            <a:chExt cx="8595360" cy="987552"/>
          </a:xfrm>
        </p:grpSpPr>
        <p:sp>
          <p:nvSpPr>
            <p:cNvPr id="32" name="Shape 29"/>
            <p:cNvSpPr/>
            <p:nvPr/>
          </p:nvSpPr>
          <p:spPr>
            <a:xfrm>
              <a:off x="274320" y="3931920"/>
              <a:ext cx="8595360" cy="274320"/>
            </a:xfrm>
            <a:prstGeom prst="rect">
              <a:avLst/>
            </a:prstGeom>
            <a:solidFill>
              <a:srgbClr val="1C7293"/>
            </a:solidFill>
            <a:ln w="12700">
              <a:solidFill>
                <a:srgbClr val="1C7293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3" name="Text 30"/>
            <p:cNvSpPr/>
            <p:nvPr/>
          </p:nvSpPr>
          <p:spPr>
            <a:xfrm>
              <a:off x="365760" y="3931920"/>
              <a:ext cx="8412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차트 의미 및 전차염 차트와의 비교</a:t>
              </a:r>
              <a:endParaRPr lang="en-US" sz="9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274320" y="4206240"/>
              <a:ext cx="8595360" cy="7132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DFF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5" name="Text 32"/>
            <p:cNvSpPr/>
            <p:nvPr/>
          </p:nvSpPr>
          <p:spPr>
            <a:xfrm>
              <a:off x="411480" y="4224528"/>
              <a:ext cx="8321040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AI가 산출한 후염소 주입률 예측값(ai_g_chol_rate)의 24시간 변화를 보여줍니다.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현재 화면 기준: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약 0.70 ppm으로 일정하게 유지 중. 전차염(1.3~1.7 ppm)보다 훨씬 낮은 수준이며, 평탄한 계단형 패턴을 보입니다.
</a:t>
              </a:r>
              <a:r>
                <a:rPr lang="en-US" sz="800" b="1" dirty="0">
                  <a:solidFill>
                    <a:srgbClr val="1D4ED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· 전차염과 동일한 Vuex 상태명(cholrateTrend)을 사용하지만,</a:t>
              </a:r>
              <a:r>
                <a:rPr lang="en-US" sz="800" dirty="0">
                  <a:solidFill>
                    <a:srgbClr val="1E3A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각 화면에서 전차염은 TB_AI_PRE_G_RT, 후차염은 TB_AI_POST_G_RT에서 각자 조회합니다.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7876</Words>
  <Application>Microsoft Office PowerPoint</Application>
  <PresentationFormat>화면 슬라이드 쇼(16:9)</PresentationFormat>
  <Paragraphs>1128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1" baseType="lpstr">
      <vt:lpstr>LAB디지털</vt:lpstr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금산정수장 약품공정 AI 시스템 구조 파악</dc:title>
  <dc:subject>PptxGenJS Presentation</dc:subject>
  <dc:creator>PptxGenJS</dc:creator>
  <cp:lastModifiedBy>Taeyeon Kim</cp:lastModifiedBy>
  <cp:revision>4</cp:revision>
  <dcterms:created xsi:type="dcterms:W3CDTF">2026-05-27T07:24:12Z</dcterms:created>
  <dcterms:modified xsi:type="dcterms:W3CDTF">2026-06-08T01:15:27Z</dcterms:modified>
</cp:coreProperties>
</file>