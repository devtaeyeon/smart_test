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430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032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996" y="0"/>
            <a:ext cx="0" cy="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926080"/>
            <a:ext cx="6035040" cy="6035040"/>
          </a:xfrm>
          <a:prstGeom prst="ellipse">
            <a:avLst/>
          </a:prstGeom>
          <a:solidFill>
            <a:srgbClr val="0E5E78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92640" y="3840480"/>
            <a:ext cx="4572000" cy="4572000"/>
          </a:xfrm>
          <a:prstGeom prst="ellipse">
            <a:avLst/>
          </a:prstGeom>
          <a:solidFill>
            <a:srgbClr val="0E8FA3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698480" y="4663440"/>
            <a:ext cx="2926080" cy="2926080"/>
          </a:xfrm>
          <a:prstGeom prst="ellipse">
            <a:avLst/>
          </a:prstGeom>
          <a:solidFill>
            <a:srgbClr val="27C6D9">
              <a:alpha val="3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정수장 AI 플랫폼 (아산)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교육 자료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FE6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 구성</a:t>
            </a:r>
            <a:r>
              <a:rPr lang="en-US" sz="145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450" dirty="0">
                <a:solidFill>
                  <a:srgbClr val="CFE6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입·출력 인자</a:t>
            </a:r>
            <a:r>
              <a:rPr lang="en-US" sz="145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r>
              <a:rPr lang="en-US" sz="1450" dirty="0">
                <a:solidFill>
                  <a:srgbClr val="CFE6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로직 &amp; 보정식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3840480" cy="0"/>
          </a:xfrm>
          <a:prstGeom prst="line">
            <a:avLst/>
          </a:prstGeom>
          <a:noFill/>
          <a:ln w="19050">
            <a:solidFill>
              <a:srgbClr val="0E8F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  |   1·2·3단계 약품(응집제) 공정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660A822-764B-086B-90D1-656ADFF8D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856" y="6418535"/>
            <a:ext cx="1296144" cy="439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128016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82296" cy="128016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2194560"/>
            <a:ext cx="457200" cy="457200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91640" y="19842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 구성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09928" y="24963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기능 설명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10881360" cy="128016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82296" cy="128016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60120" y="3675888"/>
            <a:ext cx="457200" cy="457200"/>
          </a:xfrm>
          <a:prstGeom prst="ellipse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91640" y="346557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입·출력 인자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09928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입력 인자 · 제어 출력 태그 비교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45736"/>
            <a:ext cx="10881360" cy="128016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4745736"/>
            <a:ext cx="82296" cy="1280160"/>
          </a:xfrm>
          <a:prstGeom prst="rect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0120" y="5157216"/>
            <a:ext cx="457200" cy="457200"/>
          </a:xfrm>
          <a:prstGeom prst="ellipse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012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91640" y="494690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로직  &amp;  보정식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09928" y="54589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주입률 결정 흐름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669280" cy="5669280"/>
          </a:xfrm>
          <a:prstGeom prst="ellipse">
            <a:avLst/>
          </a:prstGeom>
          <a:solidFill>
            <a:srgbClr val="0E5E78">
              <a:alpha val="2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3840480" cy="3840480"/>
          </a:xfrm>
          <a:prstGeom prst="ellipse">
            <a:avLst/>
          </a:prstGeom>
          <a:solidFill>
            <a:srgbClr val="27C6D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 구성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기능 설명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주요인자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594153" y="2623193"/>
            <a:ext cx="1211031" cy="1045160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화면에는 원수 탁도·pH·수온·전기전도도 4가지가 표시됩니다.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실제 모델은 여기에 침전수 탁도와 직전 주입률을 더해 총 6가지를 입력으로 사용합니다.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침전수 탁도는 모델 입력 외에 침전수 탁도 보정(±2.5)에도 직접 쓰입니다.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AI가 계산할 때 사용한 값을 그대로 보여줍니다.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실시간 계측값이 아니며, AI 실행 간격만큼 현재값과 차이가 날 수 있습니다.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26680" y="5532120"/>
            <a:ext cx="4114800" cy="914400"/>
          </a:xfrm>
          <a:prstGeom prst="rect">
            <a:avLst/>
          </a:prstGeom>
          <a:solidFill>
            <a:srgbClr val="0C22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909560" y="5559552"/>
            <a:ext cx="3840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차이  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E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2단계생활: 수질 5종·침전수탁도·탁도조견표 = 7종 (LSTM 모델)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E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3단계공업: 수질 4종·탁도조견표 = 5종, 침전수탁도 미사용 (LSTM 모델)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결과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122024" y="2745934"/>
            <a:ext cx="1020928" cy="922419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침전수 탁도 보정까지 적용된, 사용자 보정 전 AI 예측 주입률(ppm)입니다.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현재 운전 중인 투입기(예: 펌프2 밸브1)와 응집제 종류(PACS 2호)가 함께 표시됩니다.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맨 위 '현재주입률'은 지금 실제로 투입 중인 값입니다.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침전수 탁도 보정까지는 반영된 값이며, 사용자 보정값은 미적용 상태입니다.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최종 결과(⑤)에서 사용자 보정·상하한 제한을 거친 후 설비로 전송됩니다.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보정값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276923" y="3255496"/>
            <a:ext cx="739292" cy="386821"/>
          </a:xfrm>
          <a:prstGeom prst="rect">
            <a:avLst/>
          </a:prstGeom>
          <a:solidFill>
            <a:srgbClr val="E7A23C">
              <a:alpha val="20000"/>
            </a:srgbClr>
          </a:solidFill>
          <a:ln w="31750">
            <a:solidFill>
              <a:srgbClr val="E7A2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운영자가 AI 예측값에 직접 더하거나 빼는 조정값입니다.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연필 아이콘으로 수정합니다.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예측값은 유지되며, 설정한 보정값만큼 최종 주입률에 가감됩니다.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로그인 상태에서만 수정 가능하며, 변경 즉시 최종 주입률에 반영됩니다.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운전모드 · 상하한 · 목표탁도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97656" y="1845832"/>
            <a:ext cx="1133582" cy="468648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AI 운전모드 선택 (AI분석 · AI추천 · AI).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응집제 주입률 상·하한 및 목표 침전지 탁도를 설정합니다.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연필 아이콘으로 수정합니다.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AI 운전모드: 자동화 수준 선택 (AI분석·AI추천·AI).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상·하한: 최종 주입률의 최대·최소 고정값.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목표 침전지 탁도: 침전지 탁도 초과 시 알람 기준값.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593568" y="2623193"/>
            <a:ext cx="1049091" cy="922419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예측값 + 사용자 보정 + 상·하한 적용까지 끝난 값으로,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실제로 설비(투입기)로 전달되는 값입니다.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우측 시각은 AI 마지막 계산 시각입니다.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예측·사용자 보정·상하한 제한까지 모두 적용된, 설비로 전달되는 최종값입니다.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우상단 시각은 AI가 마지막으로 계산을 완료한 시각입니다.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현황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45257" y="2790567"/>
            <a:ext cx="2006651" cy="2306046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투입기별 운전 상태와 주입률(ppm)·주입량(ℓ/h)을 표시합니다.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가동 중인 투입기에만 물 흐름 애니메이션이 표시됩니다.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응집제 종류도 이 영역에서 확인·변경할 수 있습니다.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주입률(ppm): SCADA 직수신값 아님. 주입량 ÷ 원수유입유량 × 1000으로 웹서버 계산.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가동 투입기: 물 흐름 애니메이션으로 표시.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· 웹 화면 구성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 </a:t>
            </a: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차트</a:t>
            </a:r>
            <a:endParaRPr lang="en-US" sz="2700" dirty="0"/>
          </a:p>
        </p:txBody>
      </p:sp>
      <p:pic>
        <p:nvPicPr>
          <p:cNvPr id="5" name="Image 0" descr="/home/claude/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81328"/>
            <a:ext cx="7040880" cy="3719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481328"/>
            <a:ext cx="7040880" cy="3719429"/>
          </a:xfrm>
          <a:prstGeom prst="rect">
            <a:avLst/>
          </a:prstGeom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2594153" y="3739022"/>
            <a:ext cx="4055547" cy="1357592"/>
          </a:xfrm>
          <a:prstGeom prst="rect">
            <a:avLst/>
          </a:prstGeom>
          <a:solidFill>
            <a:srgbClr val="27C6D9">
              <a:alpha val="20000"/>
            </a:srgbClr>
          </a:solidFill>
          <a:ln w="31750">
            <a:solidFill>
              <a:srgbClr val="27C6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726680" y="1554480"/>
            <a:ext cx="4114800" cy="192024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73152" cy="192024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552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설명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5528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(좌) 침전지 탁도 정규분포 — 최근 7일간 탁도값별 발생 빈도.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(우) 침전지 탁도 트렌드 — 최근 24시간 추세와 운영기준 점선.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3611880"/>
            <a:ext cx="4114800" cy="1920240"/>
          </a:xfrm>
          <a:prstGeom prst="rect">
            <a:avLst/>
          </a:prstGeom>
          <a:solidFill>
            <a:srgbClr val="EAF6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726680" y="3611880"/>
            <a:ext cx="73152" cy="192024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95528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5E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포인트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955280" y="4069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점선(운영기준): ④에서 설정한 목표 침전지 탁도값.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실선이 점선 초과 시 목표 침전수 탁도 초과 알람 발생.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669280" cy="5669280"/>
          </a:xfrm>
          <a:prstGeom prst="ellipse">
            <a:avLst/>
          </a:prstGeom>
          <a:solidFill>
            <a:srgbClr val="0E5E78">
              <a:alpha val="2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3840480" cy="3840480"/>
          </a:xfrm>
          <a:prstGeom prst="ellipse">
            <a:avLst/>
          </a:prstGeom>
          <a:solidFill>
            <a:srgbClr val="27C6D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입·출력 인자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입력 인자 · 제어 출력 태그 비교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· 입·출력 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입력 인자 및 SCADA 태그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학습 인자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1단계공업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2단계생활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3단계공업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원수 탁도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TBI-2001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공업착수정 탁도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TBI-1001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생활원수 탁도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TBI-1002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 수질 탁도 PV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원수 pH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PHI-2002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공업착수정 pH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PHI-1001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생활원수 pH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PHI-1002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 수질 pH PV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원수 수온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TEI-2001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공업착수정 수온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TEI-1001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생활원수 수온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TEI-1100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 수질 수온 PV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원수 전기전도도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CUI-2001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공업착수정 전기전도도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CUI-1001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생활원수 전기전도도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CUI-1002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 수질 전도도 PV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원수 알칼리도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ALI-1001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생활원수 알카리도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침전수 탁도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TBI-4004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공업 침전지 탁도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FA3"/>
                          </a:solidFill>
                        </a:rPr>
                        <a:t>● TBI-2002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생활침전지 탁도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직전 주입률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5E78"/>
                          </a:solidFill>
                        </a:rPr>
                        <a:t>● SRC-2055 기반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이전 주입률 설정값 → 파생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C3A"/>
                          </a:solidFill>
                        </a:rPr>
                        <a:t>탁도 조견표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0CDD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5E78"/>
                          </a:solidFill>
                        </a:rPr>
                        <a:t>● 파생변수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원수탁도 구간 → PACS 기준값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5E78"/>
                          </a:solidFill>
                        </a:rPr>
                        <a:t>● 파생변수</a:t>
                      </a:r>
                      <a:r>
                        <a:rPr lang="en-US" sz="900" dirty="0">
                          <a:solidFill>
                            <a:srgbClr val="5E7689"/>
                          </a:solidFill>
                        </a:rPr>
                        <a:t>원수탁도 구간 → PACS 기준값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04688"/>
            <a:ext cx="3611880" cy="530352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58368" y="5541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1단계공업 출력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8368" y="57515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F4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SRC-2003  /  SRC-2009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5504688"/>
            <a:ext cx="3611880" cy="530352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361688" y="5541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2단계생활 출력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61688" y="57515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F4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SRC-2011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55280" y="5504688"/>
            <a:ext cx="3611880" cy="530352"/>
          </a:xfrm>
          <a:prstGeom prst="rect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10"/>
          <p:cNvSpPr/>
          <p:nvPr/>
        </p:nvSpPr>
        <p:spPr>
          <a:xfrm>
            <a:off x="8065008" y="554126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3단계공업 출력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65008" y="57515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F4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SPC-2159 / SPC-2160 / SPC-2161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60533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1호기 주입률 설정  /  2호기 주입률 설정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0" y="60533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PACS 주입률 설정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01000" y="60533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펌프1 주입률 설정  /  펌프2  /  펌프3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6291072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공통 접두사: 606-354-   ·   ● 모델 입력   ·   파생변수 = 원시 태그 없음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· 입·출력 인자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— 응집제 주입률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29184"/>
          </a:xfrm>
          <a:prstGeom prst="rect">
            <a:avLst/>
          </a:prstGeom>
          <a:solidFill>
            <a:srgbClr val="123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11064240" cy="1426464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100584" cy="10058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05840" y="19751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산출값은 단 1개  </a:t>
            </a:r>
            <a:r>
              <a:rPr lang="en-US" sz="11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응집제 주입률(ppm). 단계별로 보정 방식은 달라도 최종 출력은 동일하게 주입률 하나.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100584" cy="10058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05840" y="24323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표시 위치  </a:t>
            </a:r>
            <a:r>
              <a:rPr lang="en-US" sz="11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설비 현황 — 투입기 이미지 아래. 투입기별 주입률(ppm)·주입량(ℓ/h) 두 줄 표시.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100584" cy="10058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889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ppm 계산 방식  </a:t>
            </a:r>
            <a:r>
              <a:rPr lang="en-US" sz="11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SCADA 직수신값 아님. 웹서버가 주입량(ℓ/h) ÷ 원수유입유량(m³/h) × 1000 으로 계산.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11064240" cy="329184"/>
          </a:xfrm>
          <a:prstGeom prst="rect">
            <a:avLst/>
          </a:prstGeom>
          <a:solidFill>
            <a:srgbClr val="123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차이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611880" cy="347472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1단계공업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78224"/>
            <a:ext cx="3611880" cy="868680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078224"/>
            <a:ext cx="713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태그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89888" y="4133088"/>
            <a:ext cx="0" cy="758952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481328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SRC-2003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공업 1호기 주입률 설정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81328" y="4425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SRC-2009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공업 2호기 주입률 설정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46904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8368" y="494690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방식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89888" y="5001768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81328" y="49469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여부 무관 — 1·2호기에 항상 같은 값 동시 전송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3611880" cy="402336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8368" y="53492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89888" y="5404104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481328" y="5349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펌프2 · 밸브2  (총 4기)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3730752"/>
            <a:ext cx="3611880" cy="347472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8912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2단계생활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51960" y="4078224"/>
            <a:ext cx="3611880" cy="868680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61688" y="4078224"/>
            <a:ext cx="713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태그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93208" y="4133088"/>
            <a:ext cx="0" cy="758952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184648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SRC-2011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PACS 주입률 설정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51960" y="4946904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61688" y="494690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방식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93208" y="5001768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184648" y="49469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태그로 전송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51960" y="5349240"/>
            <a:ext cx="3611880" cy="402336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361688" y="53492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93208" y="5404104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184648" y="5349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 2기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55280" y="3730752"/>
            <a:ext cx="3611880" cy="347472"/>
          </a:xfrm>
          <a:prstGeom prst="rect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09244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3단계공업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955280" y="4078224"/>
            <a:ext cx="3611880" cy="868680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8065008" y="4078224"/>
            <a:ext cx="713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태그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796528" y="4133088"/>
            <a:ext cx="0" cy="758952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8887968" y="4169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SPC-2159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펌프1 주입률 설정값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887968" y="4425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SPC-2160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펌프2 주입률 설정값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887968" y="4681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SPC-2161  </a:t>
            </a:r>
            <a:r>
              <a:rPr lang="en-US" sz="9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펌프3 주입률 설정값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955280" y="4946904"/>
            <a:ext cx="3611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8065008" y="494690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 방식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796528" y="5001768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8887968" y="494690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3기 중 가동 중인 펌프만 확인 후 해당 태그에 전송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955280" y="5349240"/>
            <a:ext cx="3611880" cy="402336"/>
          </a:xfrm>
          <a:prstGeom prst="rect">
            <a:avLst/>
          </a:prstGeom>
          <a:solidFill>
            <a:srgbClr val="F1F7FA"/>
          </a:solidFill>
          <a:ln w="635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8065008" y="53492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투입기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796528" y="5404104"/>
            <a:ext cx="0" cy="292608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8887968" y="53492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펌프 3기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581558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공통 접두사: 606-354-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669280" cy="5669280"/>
          </a:xfrm>
          <a:prstGeom prst="ellipse">
            <a:avLst/>
          </a:prstGeom>
          <a:solidFill>
            <a:srgbClr val="0E5E78">
              <a:alpha val="2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548640" y="4114800"/>
            <a:ext cx="3840480" cy="3840480"/>
          </a:xfrm>
          <a:prstGeom prst="ellipse">
            <a:avLst/>
          </a:prstGeom>
          <a:solidFill>
            <a:srgbClr val="27C6D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로직 &amp; 보정식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BF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주입률 결정 흐름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· 운영 로직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처리 흐름 — 데이터에서 설비까지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325880" y="1664208"/>
            <a:ext cx="10287000" cy="512064"/>
          </a:xfrm>
          <a:prstGeom prst="rect">
            <a:avLst/>
          </a:prstGeom>
          <a:solidFill>
            <a:srgbClr val="F3F7FA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08760" y="16642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66420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7일 수질 데이터 (1분 단위)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176272"/>
            <a:ext cx="0" cy="246888"/>
          </a:xfrm>
          <a:prstGeom prst="line">
            <a:avLst/>
          </a:prstGeom>
          <a:noFill/>
          <a:ln w="19050">
            <a:solidFill>
              <a:srgbClr val="C2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0E5E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25880" y="2395728"/>
            <a:ext cx="10287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08760" y="23957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239572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이상값 제거 → 노이즈 스무딩 → 5분 평균 → 최근 30분(6개) 사용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907792"/>
            <a:ext cx="0" cy="246888"/>
          </a:xfrm>
          <a:prstGeom prst="line">
            <a:avLst/>
          </a:prstGeom>
          <a:noFill/>
          <a:ln w="19050">
            <a:solidFill>
              <a:srgbClr val="C2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325880" y="3127248"/>
            <a:ext cx="10287000" cy="512064"/>
          </a:xfrm>
          <a:prstGeom prst="rect">
            <a:avLst/>
          </a:prstGeom>
          <a:solidFill>
            <a:srgbClr val="F3F7FA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508760" y="312724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주입률 예측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312724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모델/로직으로 주입률 산출 (C1 임시 · C2·C3 LSTM)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3639312"/>
            <a:ext cx="0" cy="246888"/>
          </a:xfrm>
          <a:prstGeom prst="line">
            <a:avLst/>
          </a:prstGeom>
          <a:noFill/>
          <a:ln w="19050">
            <a:solidFill>
              <a:srgbClr val="C2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325880" y="3858768"/>
            <a:ext cx="10287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508760" y="38587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침전수 탁도 보정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385876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침전 결과(탁도)에 따라 주입률을 ± 조정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4370832"/>
            <a:ext cx="0" cy="246888"/>
          </a:xfrm>
          <a:prstGeom prst="line">
            <a:avLst/>
          </a:prstGeom>
          <a:noFill/>
          <a:ln w="19050">
            <a:solidFill>
              <a:srgbClr val="C2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1325880" y="4590288"/>
            <a:ext cx="10287000" cy="512064"/>
          </a:xfrm>
          <a:prstGeom prst="rect">
            <a:avLst/>
          </a:prstGeom>
          <a:solidFill>
            <a:srgbClr val="F3F7FA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508760" y="45902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보정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459028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보정값을 가감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" y="5102352"/>
            <a:ext cx="0" cy="246888"/>
          </a:xfrm>
          <a:prstGeom prst="line">
            <a:avLst/>
          </a:prstGeom>
          <a:noFill/>
          <a:ln w="19050">
            <a:solidFill>
              <a:srgbClr val="C2D2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40080" y="5349240"/>
            <a:ext cx="457200" cy="457200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1325880" y="5321808"/>
            <a:ext cx="10287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508760" y="53218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상·하한 제한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89120" y="532180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설정한 상·하한 범위로 제한 → 최종값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126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최종값은 운전모드(AI / AI추천 / AI분석)에 따라 설비로 자동 전송되거나, 운영자 확인 후 적용됩니다.  ·  AI는 일정 주기마다 자동 반복 실행.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4206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E8F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· 운영 로직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보정식 비교  ·  운영자 조작값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10896"/>
          </a:xfrm>
          <a:prstGeom prst="rect">
            <a:avLst/>
          </a:prstGeom>
          <a:solidFill>
            <a:srgbClr val="123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보정식 비교  (소스 기준)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1단계공업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2단계생활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3단계공업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C3A"/>
                          </a:solidFill>
                        </a:rPr>
                        <a:t>예측 기준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현재 주입률 사용 (임시)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LSTM 예측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LSTM 예측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C3A"/>
                          </a:solidFill>
                        </a:rPr>
                        <a:t>침전수 탁도 보정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목표 이상 +2.5 / 미만 −2.5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(양방향)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0.7 초과 시 +1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(단방향)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0.7 초과 시 +1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(단방향)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C3A"/>
                          </a:solidFill>
                        </a:rPr>
                        <a:t>보정 기준 탁도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목표탁도(현장 제어값) · TBC-2001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0.7 고정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C3A"/>
                          </a:solidFill>
                        </a:rPr>
                        <a:t>0.7 고정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58768"/>
            <a:ext cx="11064240" cy="310896"/>
          </a:xfrm>
          <a:prstGeom prst="rect">
            <a:avLst/>
          </a:prstGeom>
          <a:solidFill>
            <a:srgbClr val="123A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3858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조작값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187952"/>
            <a:ext cx="11064240" cy="658368"/>
          </a:xfrm>
          <a:prstGeom prst="rect">
            <a:avLst/>
          </a:prstGeom>
          <a:solidFill>
            <a:srgbClr val="0C22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2960" y="418795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주입률 = </a:t>
            </a:r>
            <a:r>
              <a:rPr lang="en-US" sz="1400" b="1" dirty="0">
                <a:solidFill>
                  <a:srgbClr val="27C6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예측값 ± 침전수 탁도 보정 ) + 사용자 보정값</a:t>
            </a:r>
            <a:r>
              <a:rPr lang="en-US" sz="1400" dirty="0">
                <a:solidFill>
                  <a:srgbClr val="C9DE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,  단 </a:t>
            </a:r>
            <a:r>
              <a:rPr lang="en-US" sz="1400" b="1" dirty="0">
                <a:solidFill>
                  <a:srgbClr val="FFD6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~ 하한</a:t>
            </a:r>
            <a:r>
              <a:rPr lang="en-US" sz="1400" dirty="0">
                <a:solidFill>
                  <a:srgbClr val="C9DE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범위로 제한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937760"/>
            <a:ext cx="5440680" cy="137160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73152" cy="1371600"/>
          </a:xfrm>
          <a:prstGeom prst="rect">
            <a:avLst/>
          </a:prstGeom>
          <a:solidFill>
            <a:srgbClr val="27C6D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" y="50474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사용자 보정값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542239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예측이 현장 감각과 다를 때 미세조정.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예측값 자체는 바뀌지 않고 최종값만 바뀝니다.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4937760"/>
            <a:ext cx="5440680" cy="1371600"/>
          </a:xfrm>
          <a:prstGeom prst="rect">
            <a:avLst/>
          </a:prstGeom>
          <a:solidFill>
            <a:srgbClr val="F3F7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4"/>
          <p:cNvSpPr/>
          <p:nvPr/>
        </p:nvSpPr>
        <p:spPr>
          <a:xfrm>
            <a:off x="6172200" y="4937760"/>
            <a:ext cx="73152" cy="1371600"/>
          </a:xfrm>
          <a:prstGeom prst="rect">
            <a:avLst/>
          </a:prstGeom>
          <a:solidFill>
            <a:srgbClr val="0E8F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46520" y="50474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C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상한 / 하한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46520" y="5422392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안전장치. 계산된 값이 아무리 크거나 작아도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범위를 절대 벗어나지 못합니다.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373368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보정값(±2.5, +1)은 소스에 고정 — 화면·SCADA에서 변경 불가. 변경 시 소스 수정·재배포 필요.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5486400" cy="5486400"/>
          </a:xfrm>
          <a:prstGeom prst="ellipse">
            <a:avLst/>
          </a:prstGeom>
          <a:solidFill>
            <a:srgbClr val="0E5E78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66960" y="-731520"/>
            <a:ext cx="3474720" cy="3474720"/>
          </a:xfrm>
          <a:prstGeom prst="ellipse">
            <a:avLst/>
          </a:prstGeom>
          <a:solidFill>
            <a:srgbClr val="27C6D9">
              <a:alpha val="3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515600" y="4754880"/>
            <a:ext cx="2194560" cy="2194560"/>
          </a:xfrm>
          <a:prstGeom prst="ellipse">
            <a:avLst/>
          </a:prstGeom>
          <a:solidFill>
            <a:srgbClr val="0E8FA3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아산 정수장 약품공정 AI 교육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1426</Words>
  <Application>Microsoft Office PowerPoint</Application>
  <PresentationFormat>와이드스크린</PresentationFormat>
  <Paragraphs>264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아산 정수장 약품공정 AI 교육</dc:title>
  <dc:subject>PptxGenJS Presentation</dc:subject>
  <dc:creator>온더시스 / K-water</dc:creator>
  <cp:lastModifiedBy>성환 최</cp:lastModifiedBy>
  <cp:revision>4</cp:revision>
  <dcterms:created xsi:type="dcterms:W3CDTF">2026-06-08T02:00:35Z</dcterms:created>
  <dcterms:modified xsi:type="dcterms:W3CDTF">2026-06-08T07:54:48Z</dcterms:modified>
</cp:coreProperties>
</file>